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handoutMasterIdLst>
    <p:handoutMasterId r:id="rId23"/>
  </p:handoutMasterIdLst>
  <p:sldIdLst>
    <p:sldId id="257" r:id="rId2"/>
    <p:sldId id="274" r:id="rId3"/>
    <p:sldId id="273" r:id="rId4"/>
    <p:sldId id="275" r:id="rId5"/>
    <p:sldId id="276" r:id="rId6"/>
    <p:sldId id="279" r:id="rId7"/>
    <p:sldId id="286" r:id="rId8"/>
    <p:sldId id="277" r:id="rId9"/>
    <p:sldId id="278" r:id="rId10"/>
    <p:sldId id="280" r:id="rId11"/>
    <p:sldId id="281" r:id="rId12"/>
    <p:sldId id="287" r:id="rId13"/>
    <p:sldId id="282" r:id="rId14"/>
    <p:sldId id="288" r:id="rId15"/>
    <p:sldId id="283" r:id="rId16"/>
    <p:sldId id="284" r:id="rId17"/>
    <p:sldId id="285" r:id="rId18"/>
    <p:sldId id="289" r:id="rId19"/>
    <p:sldId id="290" r:id="rId20"/>
    <p:sldId id="266" r:id="rId21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4" pos="240" userDrawn="1">
          <p15:clr>
            <a:srgbClr val="A4A3A4"/>
          </p15:clr>
        </p15:guide>
        <p15:guide id="6" orient="horz" pos="144" userDrawn="1">
          <p15:clr>
            <a:srgbClr val="A4A3A4"/>
          </p15:clr>
        </p15:guide>
        <p15:guide id="7" orient="horz" pos="4104" userDrawn="1">
          <p15:clr>
            <a:srgbClr val="A4A3A4"/>
          </p15:clr>
        </p15:guide>
        <p15:guide id="8" pos="7440" userDrawn="1">
          <p15:clr>
            <a:srgbClr val="A4A3A4"/>
          </p15:clr>
        </p15:guide>
        <p15:guide id="13" orient="horz" pos="1512" userDrawn="1">
          <p15:clr>
            <a:srgbClr val="A4A3A4"/>
          </p15:clr>
        </p15:guide>
        <p15:guide id="17" orient="horz" pos="2376" userDrawn="1">
          <p15:clr>
            <a:srgbClr val="A4A3A4"/>
          </p15:clr>
        </p15:guide>
        <p15:guide id="18" pos="4824" userDrawn="1">
          <p15:clr>
            <a:srgbClr val="A4A3A4"/>
          </p15:clr>
        </p15:guide>
        <p15:guide id="20" pos="2016" userDrawn="1">
          <p15:clr>
            <a:srgbClr val="A4A3A4"/>
          </p15:clr>
        </p15:guide>
        <p15:guide id="21" orient="horz" pos="1680" userDrawn="1">
          <p15:clr>
            <a:srgbClr val="A4A3A4"/>
          </p15:clr>
        </p15:guide>
        <p15:guide id="22" orient="horz" pos="1008" userDrawn="1">
          <p15:clr>
            <a:srgbClr val="A4A3A4"/>
          </p15:clr>
        </p15:guide>
        <p15:guide id="23" pos="408" userDrawn="1">
          <p15:clr>
            <a:srgbClr val="A4A3A4"/>
          </p15:clr>
        </p15:guide>
        <p15:guide id="24" orient="horz" pos="792" userDrawn="1">
          <p15:clr>
            <a:srgbClr val="A4A3A4"/>
          </p15:clr>
        </p15:guide>
        <p15:guide id="25" orient="horz" pos="2760" userDrawn="1">
          <p15:clr>
            <a:srgbClr val="A4A3A4"/>
          </p15:clr>
        </p15:guide>
        <p15:guide id="26" orient="horz" pos="3024" userDrawn="1">
          <p15:clr>
            <a:srgbClr val="A4A3A4"/>
          </p15:clr>
        </p15:guide>
        <p15:guide id="27" pos="3840" userDrawn="1">
          <p15:clr>
            <a:srgbClr val="A4A3A4"/>
          </p15:clr>
        </p15:guide>
        <p15:guide id="28" orient="horz" pos="22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353F"/>
    <a:srgbClr val="43CDD9"/>
    <a:srgbClr val="667181"/>
    <a:srgbClr val="BABABA"/>
    <a:srgbClr val="DBDBDB"/>
    <a:srgbClr val="85E0E7"/>
    <a:srgbClr val="515A6B"/>
    <a:srgbClr val="AFBBBD"/>
    <a:srgbClr val="8FA0A3"/>
    <a:srgbClr val="5FD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441" autoAdjust="0"/>
  </p:normalViewPr>
  <p:slideViewPr>
    <p:cSldViewPr snapToGrid="0" showGuides="1">
      <p:cViewPr varScale="1">
        <p:scale>
          <a:sx n="82" d="100"/>
          <a:sy n="82" d="100"/>
        </p:scale>
        <p:origin x="720" y="77"/>
      </p:cViewPr>
      <p:guideLst>
        <p:guide pos="240"/>
        <p:guide orient="horz" pos="144"/>
        <p:guide orient="horz" pos="4104"/>
        <p:guide pos="7440"/>
        <p:guide orient="horz" pos="1512"/>
        <p:guide orient="horz" pos="2376"/>
        <p:guide pos="4824"/>
        <p:guide pos="2016"/>
        <p:guide orient="horz" pos="1680"/>
        <p:guide orient="horz" pos="1008"/>
        <p:guide pos="408"/>
        <p:guide orient="horz" pos="792"/>
        <p:guide orient="horz" pos="2760"/>
        <p:guide orient="horz" pos="3024"/>
        <p:guide pos="3840"/>
        <p:guide orient="horz" pos="22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86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4592796-7AA1-497B-9CE9-8E8966CB8CE2}" type="datetime1">
              <a:rPr lang="it-IT" smtClean="0"/>
              <a:t>26/06/2026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3EBC1D5-B3EF-4A13-8CDE-7F28DE69B96C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590146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 dirty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344CD3-F172-40A6-8CC2-7C1BDB50FCCC}" type="datetime1">
              <a:rPr lang="it-IT" smtClean="0"/>
              <a:pPr/>
              <a:t>26/06/2026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 dirty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 dirty="0"/>
              <a:t>Modifica gli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FD34AC2-3728-4A8B-B58F-6888FAEC3D20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0861781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FD34AC2-3728-4A8B-B58F-6888FAEC3D20}" type="slidenum">
              <a:rPr lang="it-IT" smtClean="0"/>
              <a:t>1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2656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FD34AC2-3728-4A8B-B58F-6888FAEC3D20}" type="slidenum">
              <a:rPr lang="it-IT" smtClean="0"/>
              <a:t>20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10620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rtlCol="0" anchor="b"/>
          <a:lstStyle>
            <a:lvl1pPr algn="ctr">
              <a:defRPr sz="6000"/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it-IT" noProof="0"/>
              <a:t>Fare clic per modificare lo stile del sottotitolo dello schema</a:t>
            </a:r>
            <a:endParaRPr lang="it-IT" noProof="0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C680C2F-E619-4E2B-98D8-9919014BF7EE}" type="datetime1">
              <a:rPr lang="it-IT" noProof="0" smtClean="0"/>
              <a:t>26/06/2026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28E537-E56B-49CA-B596-52598082FBE8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635058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7117723-EB04-4C04-9674-58A429F184E6}" type="datetime1">
              <a:rPr lang="it-IT" noProof="0" smtClean="0"/>
              <a:t>26/06/2026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28E537-E56B-49CA-B596-52598082FBE8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302397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rtlCol="0" anchor="b"/>
          <a:lstStyle>
            <a:lvl1pPr>
              <a:defRPr sz="6000"/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 rtlCol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E15B3F-4F63-4854-B260-644CB8AE9876}" type="datetime1">
              <a:rPr lang="it-IT" noProof="0" smtClean="0"/>
              <a:t>26/06/2026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28E537-E56B-49CA-B596-52598082FBE8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662068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AE3B526-7D30-4D51-AA76-7FA42F009E0B}" type="datetime1">
              <a:rPr lang="it-IT" noProof="0" smtClean="0"/>
              <a:t>26/06/2026</a:t>
            </a:fld>
            <a:endParaRPr lang="it-IT" noProof="0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28E537-E56B-49CA-B596-52598082FBE8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034835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rtlCol="0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15E6CD4-BACA-4755-A5FF-8B9C7B679C7B}" type="datetime1">
              <a:rPr lang="it-IT" noProof="0" smtClean="0"/>
              <a:t>26/06/2026</a:t>
            </a:fld>
            <a:endParaRPr lang="it-IT" noProof="0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28E537-E56B-49CA-B596-52598082FBE8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645618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92178BE-F2FA-4842-89B9-5AB859F2200B}" type="datetime1">
              <a:rPr lang="it-IT" noProof="0" smtClean="0"/>
              <a:t>26/06/2026</a:t>
            </a:fld>
            <a:endParaRPr lang="it-IT" noProof="0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28E537-E56B-49CA-B596-52598082FBE8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432641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4AF1B6-DBC2-4905-A758-9C352F9780A8}" type="datetime1">
              <a:rPr lang="it-IT" noProof="0" smtClean="0"/>
              <a:t>26/06/2026</a:t>
            </a:fld>
            <a:endParaRPr lang="it-IT" noProof="0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28E537-E56B-49CA-B596-52598082FBE8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753328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az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gnaposto immagine 7">
            <a:extLst>
              <a:ext uri="{FF2B5EF4-FFF2-40B4-BE49-F238E27FC236}">
                <a16:creationId xmlns:a16="http://schemas.microsoft.com/office/drawing/2014/main" id="{23B832CC-E04A-47A7-966D-475AEA6409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9139" y="2491272"/>
            <a:ext cx="2807036" cy="2804628"/>
          </a:xfrm>
          <a:custGeom>
            <a:avLst/>
            <a:gdLst>
              <a:gd name="connsiteX0" fmla="*/ 1406866 w 2807036"/>
              <a:gd name="connsiteY0" fmla="*/ 0 h 2804628"/>
              <a:gd name="connsiteX1" fmla="*/ 2061159 w 2807036"/>
              <a:gd name="connsiteY1" fmla="*/ 271017 h 2804628"/>
              <a:gd name="connsiteX2" fmla="*/ 2542705 w 2807036"/>
              <a:gd name="connsiteY2" fmla="*/ 752562 h 2804628"/>
              <a:gd name="connsiteX3" fmla="*/ 2796783 w 2807036"/>
              <a:gd name="connsiteY3" fmla="*/ 1230127 h 2804628"/>
              <a:gd name="connsiteX4" fmla="*/ 2807036 w 2807036"/>
              <a:gd name="connsiteY4" fmla="*/ 1301178 h 2804628"/>
              <a:gd name="connsiteX5" fmla="*/ 2807036 w 2807036"/>
              <a:gd name="connsiteY5" fmla="*/ 1512532 h 2804628"/>
              <a:gd name="connsiteX6" fmla="*/ 2796783 w 2807036"/>
              <a:gd name="connsiteY6" fmla="*/ 1583584 h 2804628"/>
              <a:gd name="connsiteX7" fmla="*/ 2542705 w 2807036"/>
              <a:gd name="connsiteY7" fmla="*/ 2061148 h 2804628"/>
              <a:gd name="connsiteX8" fmla="*/ 2061149 w 2807036"/>
              <a:gd name="connsiteY8" fmla="*/ 2542704 h 2804628"/>
              <a:gd name="connsiteX9" fmla="*/ 1583585 w 2807036"/>
              <a:gd name="connsiteY9" fmla="*/ 2796782 h 2804628"/>
              <a:gd name="connsiteX10" fmla="*/ 1529213 w 2807036"/>
              <a:gd name="connsiteY10" fmla="*/ 2804628 h 2804628"/>
              <a:gd name="connsiteX11" fmla="*/ 1284499 w 2807036"/>
              <a:gd name="connsiteY11" fmla="*/ 2804628 h 2804628"/>
              <a:gd name="connsiteX12" fmla="*/ 1230128 w 2807036"/>
              <a:gd name="connsiteY12" fmla="*/ 2796782 h 2804628"/>
              <a:gd name="connsiteX13" fmla="*/ 752563 w 2807036"/>
              <a:gd name="connsiteY13" fmla="*/ 2542704 h 2804628"/>
              <a:gd name="connsiteX14" fmla="*/ 271018 w 2807036"/>
              <a:gd name="connsiteY14" fmla="*/ 2061158 h 2804628"/>
              <a:gd name="connsiteX15" fmla="*/ 271018 w 2807036"/>
              <a:gd name="connsiteY15" fmla="*/ 752572 h 2804628"/>
              <a:gd name="connsiteX16" fmla="*/ 752573 w 2807036"/>
              <a:gd name="connsiteY16" fmla="*/ 271017 h 2804628"/>
              <a:gd name="connsiteX17" fmla="*/ 1406866 w 2807036"/>
              <a:gd name="connsiteY17" fmla="*/ 0 h 2804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7036" h="2804628">
                <a:moveTo>
                  <a:pt x="1406866" y="0"/>
                </a:moveTo>
                <a:cubicBezTo>
                  <a:pt x="1643674" y="0"/>
                  <a:pt x="1880481" y="90339"/>
                  <a:pt x="2061159" y="271017"/>
                </a:cubicBezTo>
                <a:lnTo>
                  <a:pt x="2542705" y="752562"/>
                </a:lnTo>
                <a:cubicBezTo>
                  <a:pt x="2678213" y="888071"/>
                  <a:pt x="2762906" y="1055152"/>
                  <a:pt x="2796783" y="1230127"/>
                </a:cubicBezTo>
                <a:lnTo>
                  <a:pt x="2807036" y="1301178"/>
                </a:lnTo>
                <a:lnTo>
                  <a:pt x="2807036" y="1512532"/>
                </a:lnTo>
                <a:lnTo>
                  <a:pt x="2796783" y="1583584"/>
                </a:lnTo>
                <a:cubicBezTo>
                  <a:pt x="2762906" y="1758558"/>
                  <a:pt x="2678213" y="1925640"/>
                  <a:pt x="2542705" y="2061148"/>
                </a:cubicBezTo>
                <a:lnTo>
                  <a:pt x="2061149" y="2542704"/>
                </a:lnTo>
                <a:cubicBezTo>
                  <a:pt x="1925641" y="2678212"/>
                  <a:pt x="1758559" y="2762905"/>
                  <a:pt x="1583585" y="2796782"/>
                </a:cubicBezTo>
                <a:lnTo>
                  <a:pt x="1529213" y="2804628"/>
                </a:lnTo>
                <a:lnTo>
                  <a:pt x="1284499" y="2804628"/>
                </a:lnTo>
                <a:lnTo>
                  <a:pt x="1230128" y="2796782"/>
                </a:lnTo>
                <a:cubicBezTo>
                  <a:pt x="1055153" y="2762905"/>
                  <a:pt x="888072" y="2678212"/>
                  <a:pt x="752563" y="2542704"/>
                </a:cubicBezTo>
                <a:lnTo>
                  <a:pt x="271018" y="2061158"/>
                </a:lnTo>
                <a:cubicBezTo>
                  <a:pt x="-90339" y="1699802"/>
                  <a:pt x="-90339" y="1113928"/>
                  <a:pt x="271018" y="752572"/>
                </a:cubicBezTo>
                <a:lnTo>
                  <a:pt x="752573" y="271017"/>
                </a:lnTo>
                <a:cubicBezTo>
                  <a:pt x="933252" y="90339"/>
                  <a:pt x="1170059" y="0"/>
                  <a:pt x="1406866" y="0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/>
          <a:p>
            <a:pPr rtl="0"/>
            <a:r>
              <a:rPr lang="it-IT" noProof="0"/>
              <a:t>Fare clic sull'icona per inserire un'immagine</a:t>
            </a:r>
            <a:endParaRPr lang="it-IT" noProof="0" dirty="0"/>
          </a:p>
        </p:txBody>
      </p:sp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6C0DB5-C28F-411E-89D7-2AE292A03A8E}" type="datetime1">
              <a:rPr lang="it-IT" noProof="0" smtClean="0"/>
              <a:t>26/06/2026</a:t>
            </a:fld>
            <a:endParaRPr lang="it-IT" noProof="0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28E537-E56B-49CA-B596-52598082FBE8}" type="slidenum">
              <a:rPr lang="it-IT" noProof="0" smtClean="0"/>
              <a:t>‹N›</a:t>
            </a:fld>
            <a:endParaRPr lang="it-IT" noProof="0" dirty="0"/>
          </a:p>
        </p:txBody>
      </p:sp>
      <p:sp>
        <p:nvSpPr>
          <p:cNvPr id="6" name="Figura a mano libera: Forma 7">
            <a:extLst>
              <a:ext uri="{FF2B5EF4-FFF2-40B4-BE49-F238E27FC236}">
                <a16:creationId xmlns:a16="http://schemas.microsoft.com/office/drawing/2014/main" id="{23B832CC-E04A-47A7-966D-475AEA6409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25882" y="2491272"/>
            <a:ext cx="2807036" cy="2804628"/>
          </a:xfrm>
          <a:custGeom>
            <a:avLst/>
            <a:gdLst>
              <a:gd name="connsiteX0" fmla="*/ 1406866 w 2807036"/>
              <a:gd name="connsiteY0" fmla="*/ 0 h 2804628"/>
              <a:gd name="connsiteX1" fmla="*/ 2061159 w 2807036"/>
              <a:gd name="connsiteY1" fmla="*/ 271017 h 2804628"/>
              <a:gd name="connsiteX2" fmla="*/ 2542705 w 2807036"/>
              <a:gd name="connsiteY2" fmla="*/ 752562 h 2804628"/>
              <a:gd name="connsiteX3" fmla="*/ 2796783 w 2807036"/>
              <a:gd name="connsiteY3" fmla="*/ 1230127 h 2804628"/>
              <a:gd name="connsiteX4" fmla="*/ 2807036 w 2807036"/>
              <a:gd name="connsiteY4" fmla="*/ 1301178 h 2804628"/>
              <a:gd name="connsiteX5" fmla="*/ 2807036 w 2807036"/>
              <a:gd name="connsiteY5" fmla="*/ 1512532 h 2804628"/>
              <a:gd name="connsiteX6" fmla="*/ 2796783 w 2807036"/>
              <a:gd name="connsiteY6" fmla="*/ 1583584 h 2804628"/>
              <a:gd name="connsiteX7" fmla="*/ 2542705 w 2807036"/>
              <a:gd name="connsiteY7" fmla="*/ 2061148 h 2804628"/>
              <a:gd name="connsiteX8" fmla="*/ 2061149 w 2807036"/>
              <a:gd name="connsiteY8" fmla="*/ 2542704 h 2804628"/>
              <a:gd name="connsiteX9" fmla="*/ 1583585 w 2807036"/>
              <a:gd name="connsiteY9" fmla="*/ 2796782 h 2804628"/>
              <a:gd name="connsiteX10" fmla="*/ 1529213 w 2807036"/>
              <a:gd name="connsiteY10" fmla="*/ 2804628 h 2804628"/>
              <a:gd name="connsiteX11" fmla="*/ 1284499 w 2807036"/>
              <a:gd name="connsiteY11" fmla="*/ 2804628 h 2804628"/>
              <a:gd name="connsiteX12" fmla="*/ 1230128 w 2807036"/>
              <a:gd name="connsiteY12" fmla="*/ 2796782 h 2804628"/>
              <a:gd name="connsiteX13" fmla="*/ 752563 w 2807036"/>
              <a:gd name="connsiteY13" fmla="*/ 2542704 h 2804628"/>
              <a:gd name="connsiteX14" fmla="*/ 271018 w 2807036"/>
              <a:gd name="connsiteY14" fmla="*/ 2061158 h 2804628"/>
              <a:gd name="connsiteX15" fmla="*/ 271018 w 2807036"/>
              <a:gd name="connsiteY15" fmla="*/ 752572 h 2804628"/>
              <a:gd name="connsiteX16" fmla="*/ 752573 w 2807036"/>
              <a:gd name="connsiteY16" fmla="*/ 271017 h 2804628"/>
              <a:gd name="connsiteX17" fmla="*/ 1406866 w 2807036"/>
              <a:gd name="connsiteY17" fmla="*/ 0 h 2804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7036" h="2804628">
                <a:moveTo>
                  <a:pt x="1406866" y="0"/>
                </a:moveTo>
                <a:cubicBezTo>
                  <a:pt x="1643674" y="0"/>
                  <a:pt x="1880481" y="90339"/>
                  <a:pt x="2061159" y="271017"/>
                </a:cubicBezTo>
                <a:lnTo>
                  <a:pt x="2542705" y="752562"/>
                </a:lnTo>
                <a:cubicBezTo>
                  <a:pt x="2678213" y="888071"/>
                  <a:pt x="2762906" y="1055152"/>
                  <a:pt x="2796783" y="1230127"/>
                </a:cubicBezTo>
                <a:lnTo>
                  <a:pt x="2807036" y="1301178"/>
                </a:lnTo>
                <a:lnTo>
                  <a:pt x="2807036" y="1512532"/>
                </a:lnTo>
                <a:lnTo>
                  <a:pt x="2796783" y="1583584"/>
                </a:lnTo>
                <a:cubicBezTo>
                  <a:pt x="2762906" y="1758558"/>
                  <a:pt x="2678213" y="1925640"/>
                  <a:pt x="2542705" y="2061148"/>
                </a:cubicBezTo>
                <a:lnTo>
                  <a:pt x="2061149" y="2542704"/>
                </a:lnTo>
                <a:cubicBezTo>
                  <a:pt x="1925641" y="2678212"/>
                  <a:pt x="1758559" y="2762905"/>
                  <a:pt x="1583585" y="2796782"/>
                </a:cubicBezTo>
                <a:lnTo>
                  <a:pt x="1529213" y="2804628"/>
                </a:lnTo>
                <a:lnTo>
                  <a:pt x="1284499" y="2804628"/>
                </a:lnTo>
                <a:lnTo>
                  <a:pt x="1230128" y="2796782"/>
                </a:lnTo>
                <a:cubicBezTo>
                  <a:pt x="1055153" y="2762905"/>
                  <a:pt x="888072" y="2678212"/>
                  <a:pt x="752563" y="2542704"/>
                </a:cubicBezTo>
                <a:lnTo>
                  <a:pt x="271018" y="2061158"/>
                </a:lnTo>
                <a:cubicBezTo>
                  <a:pt x="-90339" y="1699802"/>
                  <a:pt x="-90339" y="1113928"/>
                  <a:pt x="271018" y="752572"/>
                </a:cubicBezTo>
                <a:lnTo>
                  <a:pt x="752573" y="271017"/>
                </a:lnTo>
                <a:cubicBezTo>
                  <a:pt x="933252" y="90339"/>
                  <a:pt x="1170059" y="0"/>
                  <a:pt x="1406866" y="0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/>
          <a:p>
            <a:pPr rtl="0"/>
            <a:r>
              <a:rPr lang="it-IT" noProof="0"/>
              <a:t>Fare clic sull'icona per inserire un'immagine</a:t>
            </a:r>
            <a:endParaRPr lang="it-IT" noProof="0" dirty="0"/>
          </a:p>
        </p:txBody>
      </p:sp>
      <p:sp>
        <p:nvSpPr>
          <p:cNvPr id="7" name="Figura a mano libera: Forma 7">
            <a:extLst>
              <a:ext uri="{FF2B5EF4-FFF2-40B4-BE49-F238E27FC236}">
                <a16:creationId xmlns:a16="http://schemas.microsoft.com/office/drawing/2014/main" id="{23B832CC-E04A-47A7-966D-475AEA6409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52396" y="2491272"/>
            <a:ext cx="2807036" cy="2804628"/>
          </a:xfrm>
          <a:custGeom>
            <a:avLst/>
            <a:gdLst>
              <a:gd name="connsiteX0" fmla="*/ 1406866 w 2807036"/>
              <a:gd name="connsiteY0" fmla="*/ 0 h 2804628"/>
              <a:gd name="connsiteX1" fmla="*/ 2061159 w 2807036"/>
              <a:gd name="connsiteY1" fmla="*/ 271017 h 2804628"/>
              <a:gd name="connsiteX2" fmla="*/ 2542705 w 2807036"/>
              <a:gd name="connsiteY2" fmla="*/ 752562 h 2804628"/>
              <a:gd name="connsiteX3" fmla="*/ 2796783 w 2807036"/>
              <a:gd name="connsiteY3" fmla="*/ 1230127 h 2804628"/>
              <a:gd name="connsiteX4" fmla="*/ 2807036 w 2807036"/>
              <a:gd name="connsiteY4" fmla="*/ 1301178 h 2804628"/>
              <a:gd name="connsiteX5" fmla="*/ 2807036 w 2807036"/>
              <a:gd name="connsiteY5" fmla="*/ 1512532 h 2804628"/>
              <a:gd name="connsiteX6" fmla="*/ 2796783 w 2807036"/>
              <a:gd name="connsiteY6" fmla="*/ 1583584 h 2804628"/>
              <a:gd name="connsiteX7" fmla="*/ 2542705 w 2807036"/>
              <a:gd name="connsiteY7" fmla="*/ 2061148 h 2804628"/>
              <a:gd name="connsiteX8" fmla="*/ 2061149 w 2807036"/>
              <a:gd name="connsiteY8" fmla="*/ 2542704 h 2804628"/>
              <a:gd name="connsiteX9" fmla="*/ 1583585 w 2807036"/>
              <a:gd name="connsiteY9" fmla="*/ 2796782 h 2804628"/>
              <a:gd name="connsiteX10" fmla="*/ 1529213 w 2807036"/>
              <a:gd name="connsiteY10" fmla="*/ 2804628 h 2804628"/>
              <a:gd name="connsiteX11" fmla="*/ 1284499 w 2807036"/>
              <a:gd name="connsiteY11" fmla="*/ 2804628 h 2804628"/>
              <a:gd name="connsiteX12" fmla="*/ 1230128 w 2807036"/>
              <a:gd name="connsiteY12" fmla="*/ 2796782 h 2804628"/>
              <a:gd name="connsiteX13" fmla="*/ 752563 w 2807036"/>
              <a:gd name="connsiteY13" fmla="*/ 2542704 h 2804628"/>
              <a:gd name="connsiteX14" fmla="*/ 271018 w 2807036"/>
              <a:gd name="connsiteY14" fmla="*/ 2061158 h 2804628"/>
              <a:gd name="connsiteX15" fmla="*/ 271018 w 2807036"/>
              <a:gd name="connsiteY15" fmla="*/ 752572 h 2804628"/>
              <a:gd name="connsiteX16" fmla="*/ 752573 w 2807036"/>
              <a:gd name="connsiteY16" fmla="*/ 271017 h 2804628"/>
              <a:gd name="connsiteX17" fmla="*/ 1406866 w 2807036"/>
              <a:gd name="connsiteY17" fmla="*/ 0 h 2804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807036" h="2804628">
                <a:moveTo>
                  <a:pt x="1406866" y="0"/>
                </a:moveTo>
                <a:cubicBezTo>
                  <a:pt x="1643674" y="0"/>
                  <a:pt x="1880481" y="90339"/>
                  <a:pt x="2061159" y="271017"/>
                </a:cubicBezTo>
                <a:lnTo>
                  <a:pt x="2542705" y="752562"/>
                </a:lnTo>
                <a:cubicBezTo>
                  <a:pt x="2678213" y="888071"/>
                  <a:pt x="2762906" y="1055152"/>
                  <a:pt x="2796783" y="1230127"/>
                </a:cubicBezTo>
                <a:lnTo>
                  <a:pt x="2807036" y="1301178"/>
                </a:lnTo>
                <a:lnTo>
                  <a:pt x="2807036" y="1512532"/>
                </a:lnTo>
                <a:lnTo>
                  <a:pt x="2796783" y="1583584"/>
                </a:lnTo>
                <a:cubicBezTo>
                  <a:pt x="2762906" y="1758558"/>
                  <a:pt x="2678213" y="1925640"/>
                  <a:pt x="2542705" y="2061148"/>
                </a:cubicBezTo>
                <a:lnTo>
                  <a:pt x="2061149" y="2542704"/>
                </a:lnTo>
                <a:cubicBezTo>
                  <a:pt x="1925641" y="2678212"/>
                  <a:pt x="1758559" y="2762905"/>
                  <a:pt x="1583585" y="2796782"/>
                </a:cubicBezTo>
                <a:lnTo>
                  <a:pt x="1529213" y="2804628"/>
                </a:lnTo>
                <a:lnTo>
                  <a:pt x="1284499" y="2804628"/>
                </a:lnTo>
                <a:lnTo>
                  <a:pt x="1230128" y="2796782"/>
                </a:lnTo>
                <a:cubicBezTo>
                  <a:pt x="1055153" y="2762905"/>
                  <a:pt x="888072" y="2678212"/>
                  <a:pt x="752563" y="2542704"/>
                </a:cubicBezTo>
                <a:lnTo>
                  <a:pt x="271018" y="2061158"/>
                </a:lnTo>
                <a:cubicBezTo>
                  <a:pt x="-90339" y="1699802"/>
                  <a:pt x="-90339" y="1113928"/>
                  <a:pt x="271018" y="752572"/>
                </a:cubicBezTo>
                <a:lnTo>
                  <a:pt x="752573" y="271017"/>
                </a:lnTo>
                <a:cubicBezTo>
                  <a:pt x="933252" y="90339"/>
                  <a:pt x="1170059" y="0"/>
                  <a:pt x="1406866" y="0"/>
                </a:cubicBezTo>
                <a:close/>
              </a:path>
            </a:pathLst>
          </a:custGeom>
        </p:spPr>
        <p:txBody>
          <a:bodyPr wrap="square" rtlCol="0">
            <a:noAutofit/>
          </a:bodyPr>
          <a:lstStyle/>
          <a:p>
            <a:pPr rtl="0"/>
            <a:r>
              <a:rPr lang="it-IT" noProof="0"/>
              <a:t>Fare clic sull'icona per inserire un'immagine</a:t>
            </a:r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1596995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C465EC4-9DBE-48F2-9E50-89249D3E8290}" type="datetime1">
              <a:rPr lang="it-IT" noProof="0" smtClean="0"/>
              <a:t>26/06/2026</a:t>
            </a:fld>
            <a:endParaRPr lang="it-IT" noProof="0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28E537-E56B-49CA-B596-52598082FBE8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4001594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it-IT" noProof="0"/>
              <a:t>Fare clic sull'icona per inserire un'immagine</a:t>
            </a:r>
            <a:endParaRPr lang="it-IT" noProof="0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it-IT" noProof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EE3EE3-319B-4C93-A32E-F64B3033E57B}" type="datetime1">
              <a:rPr lang="it-IT" noProof="0" smtClean="0"/>
              <a:t>26/06/2026</a:t>
            </a:fld>
            <a:endParaRPr lang="it-IT" noProof="0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28E537-E56B-49CA-B596-52598082FBE8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779547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0A9B30-32BF-442A-B130-C9B2A356DE7F}" type="datetime1">
              <a:rPr lang="it-IT" noProof="0" smtClean="0"/>
              <a:t>26/06/2026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28E537-E56B-49CA-B596-52598082FBE8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439420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 rtlCol="0"/>
          <a:lstStyle/>
          <a:p>
            <a:pPr rtl="0"/>
            <a:r>
              <a:rPr lang="it-IT" noProof="0"/>
              <a:t>Fare clic per modificare lo stile del titolo dello schema</a:t>
            </a:r>
            <a:endParaRPr lang="it-IT" noProof="0" dirty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 rtlCol="0"/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  <a:endParaRPr lang="it-IT" noProof="0" dirty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154DC4D-4BAB-43AA-A021-28B909AD3CA4}" type="datetime1">
              <a:rPr lang="it-IT" noProof="0" smtClean="0"/>
              <a:t>26/06/2026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428E537-E56B-49CA-B596-52598082FBE8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3032131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it-IT" noProof="0" dirty="0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it-IT" noProof="0" dirty="0"/>
              <a:t>Modifica gli stili del testo dello schema</a:t>
            </a:r>
          </a:p>
          <a:p>
            <a:pPr lvl="1" rtl="0"/>
            <a:r>
              <a:rPr lang="it-IT" noProof="0" dirty="0"/>
              <a:t>Secondo livello</a:t>
            </a:r>
          </a:p>
          <a:p>
            <a:pPr lvl="2" rtl="0"/>
            <a:r>
              <a:rPr lang="it-IT" noProof="0" dirty="0"/>
              <a:t>Terzo livello</a:t>
            </a:r>
          </a:p>
          <a:p>
            <a:pPr lvl="3" rtl="0"/>
            <a:r>
              <a:rPr lang="it-IT" noProof="0" dirty="0"/>
              <a:t>Quarto livello</a:t>
            </a:r>
          </a:p>
          <a:p>
            <a:pPr lvl="4" rtl="0"/>
            <a:r>
              <a:rPr lang="it-IT" noProof="0" dirty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1D3C9841-ED8B-4C1E-8E02-F067D670649A}" type="datetime1">
              <a:rPr lang="it-IT" noProof="0" smtClean="0"/>
              <a:t>26/06/2026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it-IT" noProof="0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428E537-E56B-49CA-B596-52598082FBE8}" type="slidenum">
              <a:rPr lang="it-IT" noProof="0" smtClean="0"/>
              <a:t>‹N›</a:t>
            </a:fld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844759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4" r:id="rId8"/>
    <p:sldLayoutId id="2147483680" r:id="rId9"/>
    <p:sldLayoutId id="2147483681" r:id="rId10"/>
    <p:sldLayoutId id="2147483682" r:id="rId11"/>
    <p:sldLayoutId id="214748368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E5FF1D4D-7B2F-21CE-3342-EBC8E1867A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314" y="-569556"/>
            <a:ext cx="12257314" cy="7660821"/>
          </a:xfrm>
          <a:prstGeom prst="rect">
            <a:avLst/>
          </a:prstGeom>
        </p:spPr>
      </p:pic>
      <p:sp>
        <p:nvSpPr>
          <p:cNvPr id="21" name="Casella di testo 20"/>
          <p:cNvSpPr txBox="1"/>
          <p:nvPr/>
        </p:nvSpPr>
        <p:spPr>
          <a:xfrm>
            <a:off x="8565129" y="6348981"/>
            <a:ext cx="309539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it-IT" sz="2000" dirty="0">
                <a:solidFill>
                  <a:schemeClr val="bg1"/>
                </a:solidFill>
              </a:rPr>
              <a:t>Studente: Elisabetta Lapenna</a:t>
            </a:r>
          </a:p>
        </p:txBody>
      </p:sp>
      <p:sp>
        <p:nvSpPr>
          <p:cNvPr id="3" name="Titolo 2" hidden="1">
            <a:extLst>
              <a:ext uri="{FF2B5EF4-FFF2-40B4-BE49-F238E27FC236}">
                <a16:creationId xmlns:a16="http://schemas.microsoft.com/office/drawing/2014/main" id="{80AA5C56-EC57-4914-8118-68854697E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/>
              <a:t>Diapositiva 1</a:t>
            </a:r>
          </a:p>
        </p:txBody>
      </p:sp>
    </p:spTree>
    <p:extLst>
      <p:ext uri="{BB962C8B-B14F-4D97-AF65-F5344CB8AC3E}">
        <p14:creationId xmlns:p14="http://schemas.microsoft.com/office/powerpoint/2010/main" val="735082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olo 1">
            <a:extLst>
              <a:ext uri="{FF2B5EF4-FFF2-40B4-BE49-F238E27FC236}">
                <a16:creationId xmlns:a16="http://schemas.microsoft.com/office/drawing/2014/main" id="{0F7B5B1B-80DD-1E98-D331-F4A4A5986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3893126" cy="70009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Introduzione</a:t>
            </a:r>
            <a:endParaRPr lang="en-US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2241EDE-197B-3EC2-FE92-547019BDC15B}"/>
              </a:ext>
            </a:extLst>
          </p:cNvPr>
          <p:cNvSpPr txBox="1"/>
          <p:nvPr/>
        </p:nvSpPr>
        <p:spPr>
          <a:xfrm>
            <a:off x="762001" y="1931438"/>
            <a:ext cx="3893126" cy="42109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Serie </a:t>
            </a:r>
            <a:r>
              <a:rPr lang="en-US" sz="1600" dirty="0" err="1"/>
              <a:t>televisiva</a:t>
            </a:r>
            <a:r>
              <a:rPr lang="en-US" sz="1600" dirty="0"/>
              <a:t> </a:t>
            </a:r>
            <a:r>
              <a:rPr lang="en-US" sz="1600" dirty="0" err="1"/>
              <a:t>ambientata</a:t>
            </a:r>
            <a:r>
              <a:rPr lang="en-US" sz="1600" dirty="0"/>
              <a:t> </a:t>
            </a:r>
            <a:r>
              <a:rPr lang="en-US" sz="1600" dirty="0" err="1"/>
              <a:t>presso</a:t>
            </a:r>
            <a:r>
              <a:rPr lang="en-US" sz="1600" dirty="0"/>
              <a:t> </a:t>
            </a:r>
            <a:r>
              <a:rPr lang="en-US" sz="1600" dirty="0" err="1"/>
              <a:t>l’ospedale</a:t>
            </a:r>
            <a:r>
              <a:rPr lang="en-US" sz="1600" dirty="0"/>
              <a:t> del Seattle Grace Hospital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La </a:t>
            </a:r>
            <a:r>
              <a:rPr lang="en-US" sz="1600" dirty="0" err="1"/>
              <a:t>serie</a:t>
            </a:r>
            <a:r>
              <a:rPr lang="en-US" sz="1600" dirty="0"/>
              <a:t> segue le </a:t>
            </a:r>
            <a:r>
              <a:rPr lang="en-US" sz="1600" dirty="0" err="1"/>
              <a:t>vicende</a:t>
            </a:r>
            <a:r>
              <a:rPr lang="en-US" sz="1600" dirty="0"/>
              <a:t> </a:t>
            </a:r>
            <a:r>
              <a:rPr lang="en-US" sz="1600" dirty="0" err="1"/>
              <a:t>professionali</a:t>
            </a:r>
            <a:r>
              <a:rPr lang="en-US" sz="1600" dirty="0"/>
              <a:t> e </a:t>
            </a:r>
            <a:r>
              <a:rPr lang="en-US" sz="1600" dirty="0" err="1"/>
              <a:t>personali</a:t>
            </a:r>
            <a:r>
              <a:rPr lang="en-US" sz="1600" dirty="0"/>
              <a:t> di </a:t>
            </a:r>
            <a:r>
              <a:rPr lang="en-US" sz="1600" dirty="0" err="1"/>
              <a:t>medici</a:t>
            </a:r>
            <a:r>
              <a:rPr lang="en-US" sz="1600" dirty="0"/>
              <a:t> </a:t>
            </a:r>
            <a:r>
              <a:rPr lang="en-US" sz="1600" dirty="0" err="1"/>
              <a:t>specializzandi</a:t>
            </a:r>
            <a:r>
              <a:rPr lang="en-US" sz="1600" dirty="0"/>
              <a:t>, </a:t>
            </a:r>
            <a:r>
              <a:rPr lang="en-US" sz="1600" dirty="0" err="1"/>
              <a:t>chirurghi</a:t>
            </a:r>
            <a:r>
              <a:rPr lang="en-US" sz="1600" dirty="0"/>
              <a:t> e </a:t>
            </a:r>
            <a:r>
              <a:rPr lang="en-US" sz="1600" dirty="0" err="1"/>
              <a:t>personale</a:t>
            </a:r>
            <a:r>
              <a:rPr lang="en-US" sz="1600" dirty="0"/>
              <a:t> </a:t>
            </a:r>
            <a:r>
              <a:rPr lang="en-US" sz="1600" dirty="0" err="1"/>
              <a:t>sanitario</a:t>
            </a:r>
            <a:endParaRPr lang="en-US" sz="16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Le </a:t>
            </a:r>
            <a:r>
              <a:rPr lang="en-US" sz="1600" dirty="0" err="1"/>
              <a:t>stagioni</a:t>
            </a:r>
            <a:r>
              <a:rPr lang="en-US" sz="1600" dirty="0"/>
              <a:t> prese in </a:t>
            </a:r>
            <a:r>
              <a:rPr lang="en-US" sz="1600" dirty="0" err="1"/>
              <a:t>esame</a:t>
            </a:r>
            <a:r>
              <a:rPr lang="en-US" sz="1600" dirty="0"/>
              <a:t> </a:t>
            </a:r>
            <a:r>
              <a:rPr lang="en-US" sz="1600" dirty="0" err="1"/>
              <a:t>sono</a:t>
            </a:r>
            <a:r>
              <a:rPr lang="en-US" sz="1600" dirty="0"/>
              <a:t> la </a:t>
            </a:r>
            <a:r>
              <a:rPr lang="en-US" sz="1600" dirty="0" err="1"/>
              <a:t>seconda</a:t>
            </a:r>
            <a:r>
              <a:rPr lang="en-US" sz="1600" dirty="0"/>
              <a:t> e la </a:t>
            </a:r>
            <a:r>
              <a:rPr lang="en-US" sz="1600" dirty="0" err="1"/>
              <a:t>settima</a:t>
            </a:r>
            <a:r>
              <a:rPr lang="en-US" sz="1600" dirty="0"/>
              <a:t> </a:t>
            </a:r>
            <a:r>
              <a:rPr lang="en-US" sz="1600" dirty="0" err="1"/>
              <a:t>stagione</a:t>
            </a:r>
            <a:endParaRPr lang="en-US" sz="16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La </a:t>
            </a:r>
            <a:r>
              <a:rPr lang="en-US" sz="1600" dirty="0" err="1"/>
              <a:t>seconda</a:t>
            </a:r>
            <a:r>
              <a:rPr lang="en-US" sz="1600" dirty="0"/>
              <a:t> </a:t>
            </a:r>
            <a:r>
              <a:rPr lang="en-US" sz="1600" dirty="0" err="1"/>
              <a:t>stagione</a:t>
            </a:r>
            <a:r>
              <a:rPr lang="en-US" sz="1600" dirty="0"/>
              <a:t> coincide con la </a:t>
            </a:r>
            <a:r>
              <a:rPr lang="en-US" sz="1600" dirty="0" err="1"/>
              <a:t>fase</a:t>
            </a:r>
            <a:r>
              <a:rPr lang="en-US" sz="1600" dirty="0"/>
              <a:t> </a:t>
            </a:r>
            <a:r>
              <a:rPr lang="en-US" sz="1600" dirty="0" err="1"/>
              <a:t>iniziale</a:t>
            </a:r>
            <a:r>
              <a:rPr lang="en-US" sz="1600" dirty="0"/>
              <a:t> della </a:t>
            </a:r>
            <a:r>
              <a:rPr lang="en-US" sz="1600" dirty="0" err="1"/>
              <a:t>serie</a:t>
            </a:r>
            <a:endParaRPr lang="en-US" sz="1600" dirty="0"/>
          </a:p>
          <a:p>
            <a:pPr marL="742950"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La </a:t>
            </a:r>
            <a:r>
              <a:rPr lang="en-US" sz="1600" dirty="0" err="1"/>
              <a:t>settima</a:t>
            </a:r>
            <a:r>
              <a:rPr lang="en-US" sz="1600" dirty="0"/>
              <a:t> </a:t>
            </a:r>
            <a:r>
              <a:rPr lang="en-US" sz="1600" dirty="0" err="1"/>
              <a:t>stagione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colloca</a:t>
            </a:r>
            <a:r>
              <a:rPr lang="en-US" sz="1600" dirty="0"/>
              <a:t> in </a:t>
            </a:r>
            <a:r>
              <a:rPr lang="en-US" sz="1600" dirty="0" err="1"/>
              <a:t>una</a:t>
            </a:r>
            <a:r>
              <a:rPr lang="en-US" sz="1600" dirty="0"/>
              <a:t> </a:t>
            </a:r>
            <a:r>
              <a:rPr lang="en-US" sz="1600" dirty="0" err="1"/>
              <a:t>fase</a:t>
            </a:r>
            <a:r>
              <a:rPr lang="en-US" sz="1600" dirty="0"/>
              <a:t> di </a:t>
            </a:r>
            <a:r>
              <a:rPr lang="en-US" sz="1600" dirty="0" err="1"/>
              <a:t>maggiore</a:t>
            </a:r>
            <a:r>
              <a:rPr lang="en-US" sz="1600" dirty="0"/>
              <a:t> </a:t>
            </a:r>
            <a:r>
              <a:rPr lang="en-US" sz="1600" dirty="0" err="1"/>
              <a:t>maturità</a:t>
            </a:r>
            <a:r>
              <a:rPr lang="en-US" sz="1600" dirty="0"/>
              <a:t> della </a:t>
            </a:r>
            <a:r>
              <a:rPr lang="en-US" sz="1600" dirty="0" err="1"/>
              <a:t>serie</a:t>
            </a:r>
            <a:endParaRPr lang="en-US" sz="1600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3E2B1C2-B2D7-BC7D-E5A9-8D387DC82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619" y="3429000"/>
            <a:ext cx="5270592" cy="325911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7AEA87C-71B2-1BDA-3436-CD815EB2C2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090" y="169890"/>
            <a:ext cx="5697506" cy="352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77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8BAEEE2-BF95-C422-2AB0-760061226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/>
              <a:t>Fonte dati</a:t>
            </a:r>
          </a:p>
        </p:txBody>
      </p:sp>
      <p:sp>
        <p:nvSpPr>
          <p:cNvPr id="73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FD31272E-D6DF-DE49-9EA6-8F2EA437E5F8}"/>
              </a:ext>
            </a:extLst>
          </p:cNvPr>
          <p:cNvSpPr txBox="1"/>
          <p:nvPr/>
        </p:nvSpPr>
        <p:spPr>
          <a:xfrm>
            <a:off x="5541263" y="457200"/>
            <a:ext cx="6007608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Personaggi.cvs</a:t>
            </a:r>
            <a:r>
              <a:rPr lang="en-US" sz="2000" dirty="0"/>
              <a:t> : ID , Nome e </a:t>
            </a:r>
            <a:r>
              <a:rPr lang="en-US" sz="2000"/>
              <a:t>Ruolo</a:t>
            </a:r>
            <a:r>
              <a:rPr lang="en-US" sz="2000" dirty="0"/>
              <a:t> di ogni </a:t>
            </a:r>
            <a:r>
              <a:rPr lang="en-US" sz="2000"/>
              <a:t>personaggio</a:t>
            </a: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Relazioni.csv: Id </a:t>
            </a:r>
            <a:r>
              <a:rPr lang="en-US" sz="2000"/>
              <a:t>dei</a:t>
            </a:r>
            <a:r>
              <a:rPr lang="en-US" sz="2000" dirty="0"/>
              <a:t> </a:t>
            </a:r>
            <a:r>
              <a:rPr lang="en-US" sz="2000"/>
              <a:t>personaggi</a:t>
            </a:r>
            <a:r>
              <a:rPr lang="en-US" sz="2000" dirty="0"/>
              <a:t> in </a:t>
            </a:r>
            <a:r>
              <a:rPr lang="en-US" sz="2000"/>
              <a:t>relazione</a:t>
            </a:r>
            <a:r>
              <a:rPr lang="en-US" sz="2000" dirty="0"/>
              <a:t>, weight, sign, </a:t>
            </a:r>
            <a:r>
              <a:rPr lang="en-US" sz="2000"/>
              <a:t>tipo_relazione</a:t>
            </a:r>
            <a:r>
              <a:rPr lang="en-US" sz="2000" dirty="0"/>
              <a:t>, </a:t>
            </a:r>
            <a:r>
              <a:rPr lang="en-US" sz="2000"/>
              <a:t>stagione</a:t>
            </a:r>
            <a:r>
              <a:rPr lang="en-US" sz="2000" dirty="0"/>
              <a:t>, ID del record</a:t>
            </a:r>
          </a:p>
        </p:txBody>
      </p:sp>
      <p:pic>
        <p:nvPicPr>
          <p:cNvPr id="54" name="Immagine 53">
            <a:extLst>
              <a:ext uri="{FF2B5EF4-FFF2-40B4-BE49-F238E27FC236}">
                <a16:creationId xmlns:a16="http://schemas.microsoft.com/office/drawing/2014/main" id="{B686BB9E-3525-1B22-EB3B-939CBF13A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56" y="2534412"/>
            <a:ext cx="4869959" cy="3678936"/>
          </a:xfrm>
          <a:prstGeom prst="rect">
            <a:avLst/>
          </a:prstGeom>
        </p:spPr>
      </p:pic>
      <p:pic>
        <p:nvPicPr>
          <p:cNvPr id="56" name="Immagine 55">
            <a:extLst>
              <a:ext uri="{FF2B5EF4-FFF2-40B4-BE49-F238E27FC236}">
                <a16:creationId xmlns:a16="http://schemas.microsoft.com/office/drawing/2014/main" id="{BFABC755-337B-0D60-44D9-6D890889D7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120" y="3167161"/>
            <a:ext cx="6728225" cy="2438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05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B8A967DE-A9EF-A08E-2EB3-F264E08EAB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81001"/>
            <a:ext cx="12268200" cy="7667625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5F170398-4393-84DC-FBE4-779B3CB974DD}"/>
              </a:ext>
            </a:extLst>
          </p:cNvPr>
          <p:cNvSpPr/>
          <p:nvPr/>
        </p:nvSpPr>
        <p:spPr>
          <a:xfrm>
            <a:off x="194356" y="746481"/>
            <a:ext cx="5257801" cy="100765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 anchorCtr="1"/>
          <a:lstStyle/>
          <a:p>
            <a:pPr marL="342900" indent="-342900" algn="just">
              <a:buFont typeface="+mj-lt"/>
              <a:buAutoNum type="arabicPeriod"/>
            </a:pPr>
            <a:endParaRPr lang="it-IT" sz="1400" dirty="0">
              <a:solidFill>
                <a:schemeClr val="tx1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it-IT" sz="1400" dirty="0">
                <a:solidFill>
                  <a:schemeClr val="tx1"/>
                </a:solidFill>
              </a:rPr>
              <a:t>Quali sono i personaggi che hanno un numero maggiore di relazioni? Quali sono i personaggi più influenti? Quali occupano una posizione centrale all’interno della rete relazionale? </a:t>
            </a:r>
          </a:p>
          <a:p>
            <a:pPr algn="ctr"/>
            <a:endParaRPr lang="it-IT" sz="1400" dirty="0">
              <a:solidFill>
                <a:schemeClr val="tx2"/>
              </a:solidFill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67C2A05A-0C01-34A7-9818-1748F4F6EAC1}"/>
              </a:ext>
            </a:extLst>
          </p:cNvPr>
          <p:cNvSpPr/>
          <p:nvPr/>
        </p:nvSpPr>
        <p:spPr>
          <a:xfrm>
            <a:off x="6180824" y="4012086"/>
            <a:ext cx="5889171" cy="170597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 anchorCtr="1"/>
          <a:lstStyle/>
          <a:p>
            <a:pPr marL="342900" indent="-342900">
              <a:buFont typeface="+mj-lt"/>
              <a:buAutoNum type="arabicPeriod" startAt="5"/>
            </a:pPr>
            <a:r>
              <a:rPr lang="it-IT" sz="1400" dirty="0">
                <a:solidFill>
                  <a:schemeClr val="tx1"/>
                </a:solidFill>
              </a:rPr>
              <a:t>Quali sono i personaggi più simili e dissimili tra loro utilizzando costrutti sulla similarità ed eterogeneità dei nodi? I personaggi Meredith e Cristina che sono migliori amiche sono i nodi più simili tra loro oppure vi è un altro personaggio che risulta più simile alla protagonista rispetto alla sua migliore amica? Mentre quale personaggio risulta nella rete quello più dissimile rispetto alla protagonista? Quali sono i primi 5 personaggi che possiedono relazioni con personaggi molto diversi tra loro? 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F86B6CE1-FA9C-C475-7775-97B745E47907}"/>
              </a:ext>
            </a:extLst>
          </p:cNvPr>
          <p:cNvSpPr/>
          <p:nvPr/>
        </p:nvSpPr>
        <p:spPr>
          <a:xfrm>
            <a:off x="3347357" y="5950313"/>
            <a:ext cx="5573486" cy="1121999"/>
          </a:xfrm>
          <a:prstGeom prst="rect">
            <a:avLst/>
          </a:prstGeom>
          <a:solidFill>
            <a:schemeClr val="bg2"/>
          </a:solidFill>
          <a:ln w="12700" cap="rnd"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2000" rIns="360000" rtlCol="0" anchor="ctr" anchorCtr="1"/>
          <a:lstStyle/>
          <a:p>
            <a:pPr marL="342900" indent="-342900" algn="just">
              <a:buFont typeface="+mj-lt"/>
              <a:buAutoNum type="arabicPeriod" startAt="6"/>
            </a:pPr>
            <a:r>
              <a:rPr lang="it-IT" sz="1400" dirty="0">
                <a:solidFill>
                  <a:schemeClr val="tx1"/>
                </a:solidFill>
              </a:rPr>
              <a:t>Quali personaggi sono inseriti soprattutto in relazioni positive? Quali sono maggiormente coinvolti in dinamiche conflittuali? Confrontando la rete di relazioni della stagione 2 con quella della stagione 7, come sono evoluti le tipologie di rapporti relazionali di ogni personaggio nel tempo? </a:t>
            </a:r>
          </a:p>
          <a:p>
            <a:pPr marL="342900" indent="-342900" algn="ctr">
              <a:buFont typeface="+mj-lt"/>
              <a:buAutoNum type="arabicPeriod" startAt="6"/>
            </a:pPr>
            <a:endParaRPr lang="it-IT" sz="1400" dirty="0">
              <a:solidFill>
                <a:schemeClr val="tx1"/>
              </a:solidFill>
            </a:endParaRP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8A8FF390-7E99-E6C6-BD3E-9AB291D6CDB7}"/>
              </a:ext>
            </a:extLst>
          </p:cNvPr>
          <p:cNvSpPr/>
          <p:nvPr/>
        </p:nvSpPr>
        <p:spPr>
          <a:xfrm>
            <a:off x="194356" y="4480898"/>
            <a:ext cx="5573486" cy="135876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 anchorCtr="1"/>
          <a:lstStyle/>
          <a:p>
            <a:pPr marL="342900" indent="-342900" algn="just">
              <a:buFont typeface="+mj-lt"/>
              <a:buAutoNum type="arabicPeriod" startAt="7"/>
            </a:pPr>
            <a:endParaRPr lang="it-IT" sz="1400" dirty="0">
              <a:solidFill>
                <a:schemeClr val="tx1"/>
              </a:solidFill>
            </a:endParaRPr>
          </a:p>
          <a:p>
            <a:pPr marL="342900" lvl="0" indent="-342900">
              <a:buFont typeface="+mj-lt"/>
              <a:buAutoNum type="arabicPeriod" startAt="7"/>
            </a:pPr>
            <a:r>
              <a:rPr lang="it-IT" sz="1400" dirty="0">
                <a:solidFill>
                  <a:schemeClr val="tx1"/>
                </a:solidFill>
              </a:rPr>
              <a:t>Quanto l’importanza della figura professionale del capo di chirurgia Richard coincide con la sua importanza all’interno della rete relazionale tra i personaggi? Rispetto alle diverse tipologie di relazioni conflittuali e non di ogni personaggio, quanto ogni personaggio ha effettivamente un ruolo centrale nella rete?</a:t>
            </a:r>
          </a:p>
          <a:p>
            <a:pPr marL="342900" indent="-342900" algn="ctr">
              <a:buFont typeface="+mj-lt"/>
              <a:buAutoNum type="arabicPeriod" startAt="7"/>
            </a:pPr>
            <a:endParaRPr lang="it-IT" sz="1400" dirty="0">
              <a:solidFill>
                <a:schemeClr val="tx1"/>
              </a:solidFill>
            </a:endParaRP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90FD383B-1097-C350-5D3A-BA71FACF46D9}"/>
              </a:ext>
            </a:extLst>
          </p:cNvPr>
          <p:cNvSpPr/>
          <p:nvPr/>
        </p:nvSpPr>
        <p:spPr>
          <a:xfrm>
            <a:off x="194356" y="3522307"/>
            <a:ext cx="4103433" cy="69403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 anchorCtr="1"/>
          <a:lstStyle/>
          <a:p>
            <a:pPr marL="342900" indent="-342900" algn="just">
              <a:buFont typeface="+mj-lt"/>
              <a:buAutoNum type="arabicPeriod" startAt="8"/>
            </a:pPr>
            <a:endParaRPr lang="it-IT" sz="1400" dirty="0">
              <a:solidFill>
                <a:schemeClr val="tx1"/>
              </a:solidFill>
            </a:endParaRPr>
          </a:p>
          <a:p>
            <a:pPr marL="342900" lvl="0" indent="-342900">
              <a:buFont typeface="+mj-lt"/>
              <a:buAutoNum type="arabicPeriod" startAt="8"/>
            </a:pPr>
            <a:r>
              <a:rPr lang="it-IT" sz="1400" dirty="0">
                <a:solidFill>
                  <a:schemeClr val="tx1"/>
                </a:solidFill>
              </a:rPr>
              <a:t>E’ possibile individuare dei sottogruppi relazionali tra i personaggi della seconda stagione?</a:t>
            </a:r>
          </a:p>
          <a:p>
            <a:pPr marL="342900" indent="-342900" algn="ctr">
              <a:buFont typeface="+mj-lt"/>
              <a:buAutoNum type="arabicPeriod" startAt="8"/>
            </a:pPr>
            <a:endParaRPr lang="it-IT" sz="1400" dirty="0">
              <a:solidFill>
                <a:schemeClr val="tx1"/>
              </a:solidFill>
            </a:endParaRP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A8173319-0ADE-580C-9D36-949676D8C3CD}"/>
              </a:ext>
            </a:extLst>
          </p:cNvPr>
          <p:cNvSpPr/>
          <p:nvPr/>
        </p:nvSpPr>
        <p:spPr>
          <a:xfrm>
            <a:off x="194356" y="2058515"/>
            <a:ext cx="5294316" cy="1236908"/>
          </a:xfrm>
          <a:prstGeom prst="rect">
            <a:avLst/>
          </a:prstGeom>
          <a:solidFill>
            <a:schemeClr val="bg2"/>
          </a:solidFill>
          <a:effectLst>
            <a:outerShdw blurRad="50800" dist="50800" algn="ctr" rotWithShape="0">
              <a:srgbClr val="000000">
                <a:alpha val="43137"/>
              </a:srgbClr>
            </a:outerShdw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 anchorCtr="1"/>
          <a:lstStyle/>
          <a:p>
            <a:pPr marL="342900" lvl="0" indent="-342900">
              <a:buFont typeface="+mj-lt"/>
              <a:buAutoNum type="arabicPeriod" startAt="9"/>
            </a:pPr>
            <a:r>
              <a:rPr lang="it-IT" sz="1400" dirty="0">
                <a:solidFill>
                  <a:schemeClr val="tx1"/>
                </a:solidFill>
              </a:rPr>
              <a:t>Quali sono le parole che vengono utilizzate più frequentemente? Le parole maggiormente utilizzate sono coerenti con la trama trattata nella seconda stagione? Quali tipi di temi e sentimenti vengono trattati? Quali sono le parole maggiormente utilizzate che esprimono sentimenti positivi o negativi?</a:t>
            </a:r>
          </a:p>
        </p:txBody>
      </p:sp>
      <p:sp>
        <p:nvSpPr>
          <p:cNvPr id="33" name="Freccia circolare a destra 32">
            <a:extLst>
              <a:ext uri="{FF2B5EF4-FFF2-40B4-BE49-F238E27FC236}">
                <a16:creationId xmlns:a16="http://schemas.microsoft.com/office/drawing/2014/main" id="{CC57DF4A-4F7D-D5F7-3F76-103B368EBBA1}"/>
              </a:ext>
            </a:extLst>
          </p:cNvPr>
          <p:cNvSpPr/>
          <p:nvPr/>
        </p:nvSpPr>
        <p:spPr>
          <a:xfrm rot="5108898" flipV="1">
            <a:off x="6727489" y="-1795282"/>
            <a:ext cx="799984" cy="4036204"/>
          </a:xfrm>
          <a:prstGeom prst="curv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F1F6AFD-2E09-B3CE-2471-078A9BDF9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684" y="-381001"/>
            <a:ext cx="10515600" cy="1325563"/>
          </a:xfrm>
        </p:spPr>
        <p:txBody>
          <a:bodyPr/>
          <a:lstStyle/>
          <a:p>
            <a:r>
              <a:rPr lang="it-IT" dirty="0"/>
              <a:t>Analisi della rete relazionale</a:t>
            </a:r>
          </a:p>
        </p:txBody>
      </p:sp>
      <p:sp>
        <p:nvSpPr>
          <p:cNvPr id="34" name="Freccia circolare in su 33">
            <a:extLst>
              <a:ext uri="{FF2B5EF4-FFF2-40B4-BE49-F238E27FC236}">
                <a16:creationId xmlns:a16="http://schemas.microsoft.com/office/drawing/2014/main" id="{8FA6CF69-913D-56E7-41E5-7B198DAADA3C}"/>
              </a:ext>
            </a:extLst>
          </p:cNvPr>
          <p:cNvSpPr/>
          <p:nvPr/>
        </p:nvSpPr>
        <p:spPr>
          <a:xfrm rot="5068973">
            <a:off x="5722359" y="1282673"/>
            <a:ext cx="916930" cy="795508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36" name="Freccia circolare in su 35">
            <a:extLst>
              <a:ext uri="{FF2B5EF4-FFF2-40B4-BE49-F238E27FC236}">
                <a16:creationId xmlns:a16="http://schemas.microsoft.com/office/drawing/2014/main" id="{58237D6C-152A-35A9-297D-56C97F9CF8C3}"/>
              </a:ext>
            </a:extLst>
          </p:cNvPr>
          <p:cNvSpPr/>
          <p:nvPr/>
        </p:nvSpPr>
        <p:spPr>
          <a:xfrm rot="5068973">
            <a:off x="6263752" y="2470782"/>
            <a:ext cx="1127220" cy="1190214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C0A3C0A5-D812-1106-F71D-429112D5CF0D}"/>
              </a:ext>
            </a:extLst>
          </p:cNvPr>
          <p:cNvSpPr/>
          <p:nvPr/>
        </p:nvSpPr>
        <p:spPr>
          <a:xfrm>
            <a:off x="6469287" y="492076"/>
            <a:ext cx="5573485" cy="107509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 anchorCtr="1"/>
          <a:lstStyle/>
          <a:p>
            <a:pPr marL="342900" indent="-342900" algn="just">
              <a:buFont typeface="+mj-lt"/>
              <a:buAutoNum type="arabicPeriod"/>
            </a:pPr>
            <a:endParaRPr lang="it-IT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it-IT" sz="1400" dirty="0">
                <a:solidFill>
                  <a:schemeClr val="tx1"/>
                </a:solidFill>
              </a:rPr>
              <a:t>Quali sono i personaggi che fungono da ponte tra i diversi personaggi? Applicare diverse strategie di rimozione dei nodi per mettere alla prova la resilienza della rete relazionale. </a:t>
            </a:r>
          </a:p>
          <a:p>
            <a:pPr algn="ctr"/>
            <a:endParaRPr lang="it-IT" sz="1400" dirty="0">
              <a:solidFill>
                <a:schemeClr val="tx2"/>
              </a:solidFill>
            </a:endParaRPr>
          </a:p>
        </p:txBody>
      </p:sp>
      <p:sp>
        <p:nvSpPr>
          <p:cNvPr id="37" name="Freccia in giù 36">
            <a:extLst>
              <a:ext uri="{FF2B5EF4-FFF2-40B4-BE49-F238E27FC236}">
                <a16:creationId xmlns:a16="http://schemas.microsoft.com/office/drawing/2014/main" id="{1D4BBFD0-9F1C-CBC3-4855-B276A6DD8264}"/>
              </a:ext>
            </a:extLst>
          </p:cNvPr>
          <p:cNvSpPr/>
          <p:nvPr/>
        </p:nvSpPr>
        <p:spPr>
          <a:xfrm>
            <a:off x="11438442" y="3684103"/>
            <a:ext cx="462987" cy="61206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F93FB658-CCCF-D3CB-3323-72E26EA352B6}"/>
              </a:ext>
            </a:extLst>
          </p:cNvPr>
          <p:cNvSpPr/>
          <p:nvPr/>
        </p:nvSpPr>
        <p:spPr>
          <a:xfrm>
            <a:off x="7406634" y="2990064"/>
            <a:ext cx="4562558" cy="694039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 anchorCtr="1"/>
          <a:lstStyle/>
          <a:p>
            <a:pPr marL="342900" indent="-342900" algn="just">
              <a:buFont typeface="+mj-lt"/>
              <a:buAutoNum type="arabicPeriod"/>
            </a:pPr>
            <a:endParaRPr lang="it-IT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it-IT" sz="1400" dirty="0">
                <a:solidFill>
                  <a:schemeClr val="tx1"/>
                </a:solidFill>
              </a:rPr>
              <a:t>Quali tra i personaggi detiene all’interno della serie tv delle relazioni più intense?</a:t>
            </a:r>
          </a:p>
          <a:p>
            <a:pPr algn="ctr"/>
            <a:endParaRPr lang="it-IT" sz="1400" dirty="0">
              <a:solidFill>
                <a:schemeClr val="tx1"/>
              </a:solidFill>
            </a:endParaRPr>
          </a:p>
        </p:txBody>
      </p:sp>
      <p:sp>
        <p:nvSpPr>
          <p:cNvPr id="40" name="Freccia angolare in su 39">
            <a:extLst>
              <a:ext uri="{FF2B5EF4-FFF2-40B4-BE49-F238E27FC236}">
                <a16:creationId xmlns:a16="http://schemas.microsoft.com/office/drawing/2014/main" id="{4691F522-EA4C-1083-4CD0-107F818D80D8}"/>
              </a:ext>
            </a:extLst>
          </p:cNvPr>
          <p:cNvSpPr/>
          <p:nvPr/>
        </p:nvSpPr>
        <p:spPr>
          <a:xfrm rot="5400000" flipV="1">
            <a:off x="8653046" y="5823133"/>
            <a:ext cx="1154109" cy="915625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Freccia angolare in su 41">
            <a:extLst>
              <a:ext uri="{FF2B5EF4-FFF2-40B4-BE49-F238E27FC236}">
                <a16:creationId xmlns:a16="http://schemas.microsoft.com/office/drawing/2014/main" id="{0F92618E-0CE4-BDFD-AD2F-232AB8FDF72E}"/>
              </a:ext>
            </a:extLst>
          </p:cNvPr>
          <p:cNvSpPr/>
          <p:nvPr/>
        </p:nvSpPr>
        <p:spPr>
          <a:xfrm rot="10800000" flipV="1">
            <a:off x="2323279" y="5742574"/>
            <a:ext cx="999953" cy="1148345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Freccia in giù 43">
            <a:extLst>
              <a:ext uri="{FF2B5EF4-FFF2-40B4-BE49-F238E27FC236}">
                <a16:creationId xmlns:a16="http://schemas.microsoft.com/office/drawing/2014/main" id="{1839B421-D574-0652-CF24-07D5283630B8}"/>
              </a:ext>
            </a:extLst>
          </p:cNvPr>
          <p:cNvSpPr/>
          <p:nvPr/>
        </p:nvSpPr>
        <p:spPr>
          <a:xfrm flipV="1">
            <a:off x="3891159" y="4060026"/>
            <a:ext cx="462987" cy="4430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Freccia in giù 45">
            <a:extLst>
              <a:ext uri="{FF2B5EF4-FFF2-40B4-BE49-F238E27FC236}">
                <a16:creationId xmlns:a16="http://schemas.microsoft.com/office/drawing/2014/main" id="{CF83F951-3218-6211-C762-593B7D8718EA}"/>
              </a:ext>
            </a:extLst>
          </p:cNvPr>
          <p:cNvSpPr/>
          <p:nvPr/>
        </p:nvSpPr>
        <p:spPr>
          <a:xfrm flipV="1">
            <a:off x="3917890" y="3228071"/>
            <a:ext cx="462987" cy="44301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F8DB0361-A0F4-D153-5AA0-9C2DDB5A2CFD}"/>
              </a:ext>
            </a:extLst>
          </p:cNvPr>
          <p:cNvSpPr/>
          <p:nvPr/>
        </p:nvSpPr>
        <p:spPr>
          <a:xfrm>
            <a:off x="6618515" y="1645867"/>
            <a:ext cx="5573485" cy="1075092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360000" rtlCol="0" anchor="ctr" anchorCtr="1"/>
          <a:lstStyle/>
          <a:p>
            <a:pPr marL="342900" indent="-342900" algn="just">
              <a:buFont typeface="+mj-lt"/>
              <a:buAutoNum type="arabicPeriod" startAt="2"/>
            </a:pPr>
            <a:endParaRPr lang="it-IT" sz="1400" dirty="0">
              <a:solidFill>
                <a:schemeClr val="tx1"/>
              </a:solidFill>
            </a:endParaRPr>
          </a:p>
          <a:p>
            <a:pPr marL="342900" lvl="0" indent="-342900">
              <a:buFont typeface="+mj-lt"/>
              <a:buAutoNum type="arabicPeriod" startAt="3"/>
            </a:pPr>
            <a:r>
              <a:rPr lang="it-IT" sz="1400" dirty="0">
                <a:solidFill>
                  <a:schemeClr val="tx1"/>
                </a:solidFill>
              </a:rPr>
              <a:t>Come sono cambiate le relazioni tra i personaggi e l’importanza di ogni personaggio tra la seconda e la settimana stagione? Nella settimana stagione esiste un personaggio che più influente del personaggio Meredith?</a:t>
            </a:r>
          </a:p>
          <a:p>
            <a:pPr marL="342900" indent="-342900" algn="ctr">
              <a:buFont typeface="+mj-lt"/>
              <a:buAutoNum type="arabicPeriod" startAt="3"/>
            </a:pPr>
            <a:endParaRPr lang="it-IT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159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638FBCE-60EC-7CBA-4BEB-752E6C7A1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 algn="ctr">
              <a:buFont typeface="+mj-lt"/>
              <a:buAutoNum type="arabicPeriod"/>
            </a:pP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sono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hanno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un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numero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maggiore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di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relazioni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 </a:t>
            </a:r>
            <a:b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occupano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una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posizione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centrale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all’interno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della rete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relazionale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 </a:t>
            </a:r>
            <a:br>
              <a:rPr lang="en-US" sz="2100" b="1" dirty="0"/>
            </a:br>
            <a:r>
              <a:rPr lang="en-US" sz="2100" b="1" dirty="0"/>
              <a:t>Quali </a:t>
            </a:r>
            <a:r>
              <a:rPr lang="en-US" sz="2100" b="1" dirty="0" err="1"/>
              <a:t>sono</a:t>
            </a:r>
            <a:r>
              <a:rPr lang="en-US" sz="2100" b="1" dirty="0"/>
              <a:t> </a:t>
            </a:r>
            <a:r>
              <a:rPr lang="en-US" sz="2100" b="1" dirty="0" err="1"/>
              <a:t>i</a:t>
            </a:r>
            <a:r>
              <a:rPr lang="en-US" sz="2100" b="1" dirty="0"/>
              <a:t> </a:t>
            </a:r>
            <a:r>
              <a:rPr lang="en-US" sz="2100" b="1" dirty="0" err="1"/>
              <a:t>personaggi</a:t>
            </a:r>
            <a:r>
              <a:rPr lang="en-US" sz="2100" b="1" dirty="0"/>
              <a:t> </a:t>
            </a:r>
            <a:r>
              <a:rPr lang="en-US" sz="2100" b="1" dirty="0" err="1"/>
              <a:t>più</a:t>
            </a:r>
            <a:r>
              <a:rPr lang="en-US" sz="2100" b="1" dirty="0"/>
              <a:t> </a:t>
            </a:r>
            <a:r>
              <a:rPr lang="en-US" sz="2100" b="1" dirty="0" err="1"/>
              <a:t>influenti</a:t>
            </a:r>
            <a:r>
              <a:rPr lang="en-US" sz="2100" b="1" dirty="0"/>
              <a:t>?</a:t>
            </a:r>
            <a:b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8C8B099E-85BC-C047-8D5B-E7841BD388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113" y="2633472"/>
            <a:ext cx="10246726" cy="358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89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20211D0-E249-1B74-FB87-9799202B2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 </a:t>
            </a:r>
            <a:r>
              <a:rPr lang="en-US" sz="23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sono</a:t>
            </a:r>
            <a: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3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3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</a:t>
            </a:r>
            <a: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3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</a:t>
            </a:r>
            <a: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3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fungono</a:t>
            </a:r>
            <a: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da </a:t>
            </a:r>
            <a:r>
              <a:rPr lang="en-US" sz="23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ponte</a:t>
            </a:r>
            <a: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3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</a:t>
            </a:r>
            <a: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3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3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diversi</a:t>
            </a:r>
            <a: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3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</a:t>
            </a:r>
            <a: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 </a:t>
            </a:r>
            <a:r>
              <a:rPr lang="en-US" sz="2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Applicare</a:t>
            </a:r>
            <a:r>
              <a:rPr lang="en-US" sz="2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diverse </a:t>
            </a:r>
            <a:r>
              <a:rPr lang="en-US" sz="2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strategie</a:t>
            </a:r>
            <a:r>
              <a:rPr lang="en-US" sz="2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di </a:t>
            </a:r>
            <a:r>
              <a:rPr lang="en-US" sz="2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rimozione</a:t>
            </a:r>
            <a:r>
              <a:rPr lang="en-US" sz="2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dei</a:t>
            </a:r>
            <a:r>
              <a:rPr lang="en-US" sz="2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nodi per </a:t>
            </a:r>
            <a:r>
              <a:rPr lang="en-US" sz="2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mettere</a:t>
            </a:r>
            <a:r>
              <a:rPr lang="en-US" sz="2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alla </a:t>
            </a:r>
            <a:r>
              <a:rPr lang="en-US" sz="2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prova</a:t>
            </a:r>
            <a:r>
              <a:rPr lang="en-US" sz="2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2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resilienza</a:t>
            </a:r>
            <a:r>
              <a:rPr lang="en-US" sz="2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della rete </a:t>
            </a:r>
            <a:r>
              <a:rPr lang="en-US" sz="2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relazionale</a:t>
            </a:r>
            <a:r>
              <a:rPr lang="en-US" sz="2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 </a:t>
            </a:r>
            <a:br>
              <a:rPr lang="en-US" sz="23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3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168ABD6-6412-54F6-5388-053204F91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56" y="1065252"/>
            <a:ext cx="6408836" cy="457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927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007F80B-F073-B0E9-3992-3B19FCFB2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sono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fungono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da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ponte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diversi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Applicare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diverse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strategie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di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rimozione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dei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nodi per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mettere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alla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prova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la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resilienza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della rete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relazionale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. </a:t>
            </a:r>
            <a:b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C826F32-5F32-F79C-C616-3B61EC0C4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184678"/>
            <a:ext cx="7214616" cy="446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60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E709288B-FA21-6498-DAED-BBF7A5DA8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 algn="ctr">
              <a:buFont typeface="+mj-lt"/>
              <a:buAutoNum type="arabicPeriod" startAt="3"/>
            </a:pPr>
            <a:r>
              <a:rPr lang="en-US" sz="2100" b="1" dirty="0"/>
              <a:t>Come </a:t>
            </a:r>
            <a:r>
              <a:rPr lang="en-US" sz="2100" b="1" dirty="0" err="1"/>
              <a:t>sono</a:t>
            </a:r>
            <a:r>
              <a:rPr lang="en-US" sz="2100" b="1" dirty="0"/>
              <a:t> </a:t>
            </a:r>
            <a:r>
              <a:rPr lang="en-US" sz="2100" b="1" dirty="0" err="1"/>
              <a:t>cambiate</a:t>
            </a:r>
            <a:r>
              <a:rPr lang="en-US" sz="2100" b="1" dirty="0"/>
              <a:t> le </a:t>
            </a:r>
            <a:r>
              <a:rPr lang="en-US" sz="2100" b="1" dirty="0" err="1"/>
              <a:t>relazioni</a:t>
            </a:r>
            <a:r>
              <a:rPr lang="en-US" sz="2100" b="1" dirty="0"/>
              <a:t> </a:t>
            </a:r>
            <a:r>
              <a:rPr lang="en-US" sz="2100" b="1" dirty="0" err="1"/>
              <a:t>tra</a:t>
            </a:r>
            <a:r>
              <a:rPr lang="en-US" sz="2100" b="1" dirty="0"/>
              <a:t> </a:t>
            </a:r>
            <a:r>
              <a:rPr lang="en-US" sz="2100" b="1" dirty="0" err="1"/>
              <a:t>i</a:t>
            </a:r>
            <a:r>
              <a:rPr lang="en-US" sz="2100" b="1" dirty="0"/>
              <a:t> </a:t>
            </a:r>
            <a:r>
              <a:rPr lang="en-US" sz="2100" b="1" dirty="0" err="1"/>
              <a:t>personaggi</a:t>
            </a:r>
            <a:r>
              <a:rPr lang="en-US" sz="2100" b="1" dirty="0"/>
              <a:t> e </a:t>
            </a:r>
            <a:r>
              <a:rPr lang="en-US" sz="2100" b="1" dirty="0" err="1"/>
              <a:t>l’importanza</a:t>
            </a:r>
            <a:r>
              <a:rPr lang="en-US" sz="2100" b="1" dirty="0"/>
              <a:t> di ogni </a:t>
            </a:r>
            <a:r>
              <a:rPr lang="en-US" sz="2100" b="1" dirty="0" err="1"/>
              <a:t>personaggio</a:t>
            </a:r>
            <a:r>
              <a:rPr lang="en-US" sz="2100" b="1" dirty="0"/>
              <a:t> </a:t>
            </a:r>
            <a:r>
              <a:rPr lang="en-US" sz="2100" b="1" dirty="0" err="1"/>
              <a:t>tra</a:t>
            </a:r>
            <a:r>
              <a:rPr lang="en-US" sz="2100" b="1" dirty="0"/>
              <a:t> la </a:t>
            </a:r>
            <a:r>
              <a:rPr lang="en-US" sz="2100" b="1" dirty="0" err="1"/>
              <a:t>seconda</a:t>
            </a:r>
            <a:r>
              <a:rPr lang="en-US" sz="2100" b="1" dirty="0"/>
              <a:t> e la </a:t>
            </a:r>
            <a:r>
              <a:rPr lang="en-US" sz="2100" b="1" dirty="0" err="1"/>
              <a:t>settimana</a:t>
            </a:r>
            <a:r>
              <a:rPr lang="en-US" sz="2100" b="1" dirty="0"/>
              <a:t> </a:t>
            </a:r>
            <a:r>
              <a:rPr lang="en-US" sz="2100" b="1" dirty="0" err="1"/>
              <a:t>stagione</a:t>
            </a:r>
            <a:r>
              <a:rPr lang="en-US" sz="2100" b="1" dirty="0"/>
              <a:t>? Nella </a:t>
            </a:r>
            <a:r>
              <a:rPr lang="en-US" sz="2100" b="1" dirty="0" err="1"/>
              <a:t>settimana</a:t>
            </a:r>
            <a:r>
              <a:rPr lang="en-US" sz="2100" b="1" dirty="0"/>
              <a:t> </a:t>
            </a:r>
            <a:r>
              <a:rPr lang="en-US" sz="2100" b="1" dirty="0" err="1"/>
              <a:t>stagione</a:t>
            </a:r>
            <a:r>
              <a:rPr lang="en-US" sz="2100" b="1" dirty="0"/>
              <a:t> </a:t>
            </a:r>
            <a:r>
              <a:rPr lang="en-US" sz="2100" b="1" dirty="0" err="1"/>
              <a:t>esiste</a:t>
            </a:r>
            <a:r>
              <a:rPr lang="en-US" sz="2100" b="1" dirty="0"/>
              <a:t> un </a:t>
            </a:r>
            <a:r>
              <a:rPr lang="en-US" sz="2100" b="1" dirty="0" err="1"/>
              <a:t>personaggio</a:t>
            </a:r>
            <a:r>
              <a:rPr lang="en-US" sz="2100" b="1" dirty="0"/>
              <a:t> </a:t>
            </a:r>
            <a:r>
              <a:rPr lang="en-US" sz="2100" b="1" dirty="0" err="1"/>
              <a:t>che</a:t>
            </a:r>
            <a:r>
              <a:rPr lang="en-US" sz="2100" b="1" dirty="0"/>
              <a:t> </a:t>
            </a:r>
            <a:r>
              <a:rPr lang="en-US" sz="2100" b="1" dirty="0" err="1"/>
              <a:t>più</a:t>
            </a:r>
            <a:r>
              <a:rPr lang="en-US" sz="2100" b="1" dirty="0"/>
              <a:t> </a:t>
            </a:r>
            <a:r>
              <a:rPr lang="en-US" sz="2100" b="1" dirty="0" err="1"/>
              <a:t>influente</a:t>
            </a:r>
            <a:r>
              <a:rPr lang="en-US" sz="2100" b="1" dirty="0"/>
              <a:t> del </a:t>
            </a:r>
            <a:r>
              <a:rPr lang="en-US" sz="2100" b="1" dirty="0" err="1"/>
              <a:t>personaggio</a:t>
            </a:r>
            <a:r>
              <a:rPr lang="en-US" sz="2100" b="1" dirty="0"/>
              <a:t> Meredith?</a:t>
            </a:r>
            <a:endParaRPr lang="en-US" sz="2100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C9BCC505-1F89-EEDF-16FC-078B5AB98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151" y="2422607"/>
            <a:ext cx="6277530" cy="3881756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07415262-F609-9592-2B71-441B94FA9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5402" y="2480817"/>
            <a:ext cx="6006598" cy="371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73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669935-B509-1314-65D1-8E71990D0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3057935-B141-A9CA-D961-6BC83C800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 algn="ctr">
              <a:buFont typeface="+mj-lt"/>
              <a:buAutoNum type="arabicPeriod" startAt="3"/>
            </a:pPr>
            <a:r>
              <a:rPr lang="en-US" sz="2100" b="1" dirty="0"/>
              <a:t>Come </a:t>
            </a:r>
            <a:r>
              <a:rPr lang="en-US" sz="2100" b="1" dirty="0" err="1"/>
              <a:t>sono</a:t>
            </a:r>
            <a:r>
              <a:rPr lang="en-US" sz="2100" b="1" dirty="0"/>
              <a:t> </a:t>
            </a:r>
            <a:r>
              <a:rPr lang="en-US" sz="2100" b="1" dirty="0" err="1"/>
              <a:t>cambiate</a:t>
            </a:r>
            <a:r>
              <a:rPr lang="en-US" sz="2100" b="1" dirty="0"/>
              <a:t> le </a:t>
            </a:r>
            <a:r>
              <a:rPr lang="en-US" sz="2100" b="1" dirty="0" err="1"/>
              <a:t>relazioni</a:t>
            </a:r>
            <a:r>
              <a:rPr lang="en-US" sz="2100" b="1" dirty="0"/>
              <a:t> </a:t>
            </a:r>
            <a:r>
              <a:rPr lang="en-US" sz="2100" b="1" dirty="0" err="1"/>
              <a:t>tra</a:t>
            </a:r>
            <a:r>
              <a:rPr lang="en-US" sz="2100" b="1" dirty="0"/>
              <a:t> </a:t>
            </a:r>
            <a:r>
              <a:rPr lang="en-US" sz="2100" b="1" dirty="0" err="1"/>
              <a:t>i</a:t>
            </a:r>
            <a:r>
              <a:rPr lang="en-US" sz="2100" b="1" dirty="0"/>
              <a:t> </a:t>
            </a:r>
            <a:r>
              <a:rPr lang="en-US" sz="2100" b="1" dirty="0" err="1"/>
              <a:t>personaggi</a:t>
            </a:r>
            <a:r>
              <a:rPr lang="en-US" sz="2100" b="1" dirty="0"/>
              <a:t> e </a:t>
            </a:r>
            <a:r>
              <a:rPr lang="en-US" sz="2100" b="1" dirty="0" err="1"/>
              <a:t>l’importanza</a:t>
            </a:r>
            <a:r>
              <a:rPr lang="en-US" sz="2100" b="1" dirty="0"/>
              <a:t> di ogni </a:t>
            </a:r>
            <a:r>
              <a:rPr lang="en-US" sz="2100" b="1" dirty="0" err="1"/>
              <a:t>personaggio</a:t>
            </a:r>
            <a:r>
              <a:rPr lang="en-US" sz="2100" b="1" dirty="0"/>
              <a:t> </a:t>
            </a:r>
            <a:r>
              <a:rPr lang="en-US" sz="2100" b="1" dirty="0" err="1"/>
              <a:t>tra</a:t>
            </a:r>
            <a:r>
              <a:rPr lang="en-US" sz="2100" b="1" dirty="0"/>
              <a:t> la </a:t>
            </a:r>
            <a:r>
              <a:rPr lang="en-US" sz="2100" b="1" dirty="0" err="1"/>
              <a:t>seconda</a:t>
            </a:r>
            <a:r>
              <a:rPr lang="en-US" sz="2100" b="1" dirty="0"/>
              <a:t> e la </a:t>
            </a:r>
            <a:r>
              <a:rPr lang="en-US" sz="2100" b="1" dirty="0" err="1"/>
              <a:t>settimana</a:t>
            </a:r>
            <a:r>
              <a:rPr lang="en-US" sz="2100" b="1" dirty="0"/>
              <a:t> </a:t>
            </a:r>
            <a:r>
              <a:rPr lang="en-US" sz="2100" b="1" dirty="0" err="1"/>
              <a:t>stagione</a:t>
            </a:r>
            <a:r>
              <a:rPr lang="en-US" sz="2100" b="1" dirty="0"/>
              <a:t>? Nella </a:t>
            </a:r>
            <a:r>
              <a:rPr lang="en-US" sz="2100" b="1" dirty="0" err="1"/>
              <a:t>settimana</a:t>
            </a:r>
            <a:r>
              <a:rPr lang="en-US" sz="2100" b="1" dirty="0"/>
              <a:t> </a:t>
            </a:r>
            <a:r>
              <a:rPr lang="en-US" sz="2100" b="1" dirty="0" err="1"/>
              <a:t>stagione</a:t>
            </a:r>
            <a:r>
              <a:rPr lang="en-US" sz="2100" b="1" dirty="0"/>
              <a:t> </a:t>
            </a:r>
            <a:r>
              <a:rPr lang="en-US" sz="2100" b="1" dirty="0" err="1"/>
              <a:t>esiste</a:t>
            </a:r>
            <a:r>
              <a:rPr lang="en-US" sz="2100" b="1" dirty="0"/>
              <a:t> un </a:t>
            </a:r>
            <a:r>
              <a:rPr lang="en-US" sz="2100" b="1" dirty="0" err="1"/>
              <a:t>personaggio</a:t>
            </a:r>
            <a:r>
              <a:rPr lang="en-US" sz="2100" b="1" dirty="0"/>
              <a:t> </a:t>
            </a:r>
            <a:r>
              <a:rPr lang="en-US" sz="2100" b="1" dirty="0" err="1"/>
              <a:t>più</a:t>
            </a:r>
            <a:r>
              <a:rPr lang="en-US" sz="2100" b="1" dirty="0"/>
              <a:t> </a:t>
            </a:r>
            <a:r>
              <a:rPr lang="en-US" sz="2100" b="1" dirty="0" err="1"/>
              <a:t>influente</a:t>
            </a:r>
            <a:r>
              <a:rPr lang="en-US" sz="2100" b="1" dirty="0"/>
              <a:t> di Meredith?</a:t>
            </a:r>
            <a:br>
              <a:rPr lang="en-US" sz="2100" dirty="0"/>
            </a:br>
            <a:endParaRPr lang="en-US" sz="2100" dirty="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C0A26F5-A505-8185-159A-9790C3B55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44" y="2511752"/>
            <a:ext cx="5934456" cy="3669614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98A0794-A3F9-3E78-8273-1EE44B67C0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96" y="2511752"/>
            <a:ext cx="5934456" cy="3669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677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ECA734-98CE-7088-D1B8-D6BC57449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49222DD-FAAD-1B76-0887-4EAB407E0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 </a:t>
            </a:r>
            <a:r>
              <a:rPr lang="en-US" sz="2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</a:t>
            </a:r>
            <a: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</a:t>
            </a:r>
            <a: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detiene</a:t>
            </a:r>
            <a: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all’interno</a:t>
            </a:r>
            <a: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della </a:t>
            </a:r>
            <a:r>
              <a:rPr lang="en-US" sz="2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serie</a:t>
            </a:r>
            <a: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tv delle </a:t>
            </a:r>
            <a:r>
              <a:rPr lang="en-US" sz="2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relazioni</a:t>
            </a:r>
            <a: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più</a:t>
            </a:r>
            <a: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intense?</a:t>
            </a:r>
            <a:b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6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E201B8C-984F-72D1-BB5B-EDFC45BF7B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356" y="1371898"/>
            <a:ext cx="6408836" cy="3962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730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36A33-2300-1455-3F71-B41D2A9AC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8BDC6F1-9749-9410-F18C-E6FD15B04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457200" indent="-457200" algn="ctr">
              <a:buFont typeface="+mj-lt"/>
              <a:buAutoNum type="arabicPeriod" startAt="5"/>
            </a:pP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sono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più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simili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dissimili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loro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utilizzando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costrutti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sulla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similarità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ed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eterogeneità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nodi? I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Meredith e Cristina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sono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migliori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amiche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sono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nodi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più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simili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loro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oppure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vi è un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altro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personaggio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risulta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più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simile alla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protagonista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rispetto alla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sua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migliore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amica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 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Mentre quale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personaggio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risulta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nella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rete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quello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più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dissimile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rispetto alla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protagonista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 Quali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sono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primi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5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possiedono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relazioni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con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molto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diversi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</a:t>
            </a:r>
            <a: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loro? </a:t>
            </a:r>
            <a:br>
              <a:rPr lang="en-US" sz="1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17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194D6C75-5197-1757-7F1B-E8670A1B3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021" y="2258166"/>
            <a:ext cx="6899360" cy="4266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697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B70CFC46-F16F-9499-87AA-528CF8317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457200" indent="-457200" algn="ctr">
              <a:buFont typeface="+mj-lt"/>
              <a:buAutoNum type="arabicPeriod" startAt="5"/>
            </a:pPr>
            <a:r>
              <a:rPr lang="en-US" sz="1700" dirty="0"/>
              <a:t>Quali </a:t>
            </a:r>
            <a:r>
              <a:rPr lang="en-US" sz="1700" dirty="0" err="1"/>
              <a:t>sono</a:t>
            </a:r>
            <a:r>
              <a:rPr lang="en-US" sz="1700" dirty="0"/>
              <a:t> </a:t>
            </a:r>
            <a:r>
              <a:rPr lang="en-US" sz="1700" dirty="0" err="1"/>
              <a:t>i</a:t>
            </a:r>
            <a:r>
              <a:rPr lang="en-US" sz="1700" dirty="0"/>
              <a:t> </a:t>
            </a:r>
            <a:r>
              <a:rPr lang="en-US" sz="1700" dirty="0" err="1"/>
              <a:t>personaggi</a:t>
            </a:r>
            <a:r>
              <a:rPr lang="en-US" sz="1700" dirty="0"/>
              <a:t> </a:t>
            </a:r>
            <a:r>
              <a:rPr lang="en-US" sz="1700" dirty="0" err="1"/>
              <a:t>più</a:t>
            </a:r>
            <a:r>
              <a:rPr lang="en-US" sz="1700" dirty="0"/>
              <a:t> </a:t>
            </a:r>
            <a:r>
              <a:rPr lang="en-US" sz="1700" dirty="0" err="1"/>
              <a:t>simili</a:t>
            </a:r>
            <a:r>
              <a:rPr lang="en-US" sz="1700" dirty="0"/>
              <a:t> e </a:t>
            </a:r>
            <a:r>
              <a:rPr lang="en-US" sz="1700" dirty="0" err="1"/>
              <a:t>dissimili</a:t>
            </a:r>
            <a:r>
              <a:rPr lang="en-US" sz="1700" dirty="0"/>
              <a:t> </a:t>
            </a:r>
            <a:r>
              <a:rPr lang="en-US" sz="1700" dirty="0" err="1"/>
              <a:t>tra</a:t>
            </a:r>
            <a:r>
              <a:rPr lang="en-US" sz="1700" dirty="0"/>
              <a:t> loro </a:t>
            </a:r>
            <a:r>
              <a:rPr lang="en-US" sz="1700" dirty="0" err="1"/>
              <a:t>utilizzando</a:t>
            </a:r>
            <a:r>
              <a:rPr lang="en-US" sz="1700" dirty="0"/>
              <a:t> </a:t>
            </a:r>
            <a:r>
              <a:rPr lang="en-US" sz="1700" dirty="0" err="1"/>
              <a:t>costrutti</a:t>
            </a:r>
            <a:r>
              <a:rPr lang="en-US" sz="1700" dirty="0"/>
              <a:t> </a:t>
            </a:r>
            <a:r>
              <a:rPr lang="en-US" sz="1700" dirty="0" err="1"/>
              <a:t>sulla</a:t>
            </a:r>
            <a:r>
              <a:rPr lang="en-US" sz="1700" dirty="0"/>
              <a:t> </a:t>
            </a:r>
            <a:r>
              <a:rPr lang="en-US" sz="1700" dirty="0" err="1"/>
              <a:t>similarità</a:t>
            </a:r>
            <a:r>
              <a:rPr lang="en-US" sz="1700" dirty="0"/>
              <a:t> ed </a:t>
            </a:r>
            <a:r>
              <a:rPr lang="en-US" sz="1700" dirty="0" err="1"/>
              <a:t>eterogeneità</a:t>
            </a:r>
            <a:r>
              <a:rPr lang="en-US" sz="1700" dirty="0"/>
              <a:t> </a:t>
            </a:r>
            <a:r>
              <a:rPr lang="en-US" sz="1700" dirty="0" err="1"/>
              <a:t>dei</a:t>
            </a:r>
            <a:r>
              <a:rPr lang="en-US" sz="1700" dirty="0"/>
              <a:t> nodi? I </a:t>
            </a:r>
            <a:r>
              <a:rPr lang="en-US" sz="1700" dirty="0" err="1"/>
              <a:t>personaggi</a:t>
            </a:r>
            <a:r>
              <a:rPr lang="en-US" sz="1700" dirty="0"/>
              <a:t> Meredith e Cristina </a:t>
            </a:r>
            <a:r>
              <a:rPr lang="en-US" sz="1700" dirty="0" err="1"/>
              <a:t>che</a:t>
            </a:r>
            <a:r>
              <a:rPr lang="en-US" sz="1700" dirty="0"/>
              <a:t> </a:t>
            </a:r>
            <a:r>
              <a:rPr lang="en-US" sz="1700" dirty="0" err="1"/>
              <a:t>sono</a:t>
            </a:r>
            <a:r>
              <a:rPr lang="en-US" sz="1700" dirty="0"/>
              <a:t> </a:t>
            </a:r>
            <a:r>
              <a:rPr lang="en-US" sz="1700" dirty="0" err="1"/>
              <a:t>migliori</a:t>
            </a:r>
            <a:r>
              <a:rPr lang="en-US" sz="1700" dirty="0"/>
              <a:t> </a:t>
            </a:r>
            <a:r>
              <a:rPr lang="en-US" sz="1700" dirty="0" err="1"/>
              <a:t>amiche</a:t>
            </a:r>
            <a:r>
              <a:rPr lang="en-US" sz="1700" dirty="0"/>
              <a:t> </a:t>
            </a:r>
            <a:r>
              <a:rPr lang="en-US" sz="1700" dirty="0" err="1"/>
              <a:t>sono</a:t>
            </a:r>
            <a:r>
              <a:rPr lang="en-US" sz="1700" dirty="0"/>
              <a:t> </a:t>
            </a:r>
            <a:r>
              <a:rPr lang="en-US" sz="1700" dirty="0" err="1"/>
              <a:t>i</a:t>
            </a:r>
            <a:r>
              <a:rPr lang="en-US" sz="1700" dirty="0"/>
              <a:t> nodi </a:t>
            </a:r>
            <a:r>
              <a:rPr lang="en-US" sz="1700" dirty="0" err="1"/>
              <a:t>più</a:t>
            </a:r>
            <a:r>
              <a:rPr lang="en-US" sz="1700" dirty="0"/>
              <a:t> </a:t>
            </a:r>
            <a:r>
              <a:rPr lang="en-US" sz="1700" dirty="0" err="1"/>
              <a:t>simili</a:t>
            </a:r>
            <a:r>
              <a:rPr lang="en-US" sz="1700" dirty="0"/>
              <a:t> </a:t>
            </a:r>
            <a:r>
              <a:rPr lang="en-US" sz="1700" dirty="0" err="1"/>
              <a:t>tra</a:t>
            </a:r>
            <a:r>
              <a:rPr lang="en-US" sz="1700" dirty="0"/>
              <a:t> loro </a:t>
            </a:r>
            <a:r>
              <a:rPr lang="en-US" sz="1700" dirty="0" err="1"/>
              <a:t>oppure</a:t>
            </a:r>
            <a:r>
              <a:rPr lang="en-US" sz="1700" dirty="0"/>
              <a:t> vi è un </a:t>
            </a:r>
            <a:r>
              <a:rPr lang="en-US" sz="1700" dirty="0" err="1"/>
              <a:t>altro</a:t>
            </a:r>
            <a:r>
              <a:rPr lang="en-US" sz="1700" dirty="0"/>
              <a:t> </a:t>
            </a:r>
            <a:r>
              <a:rPr lang="en-US" sz="1700" dirty="0" err="1"/>
              <a:t>personaggio</a:t>
            </a:r>
            <a:r>
              <a:rPr lang="en-US" sz="1700" dirty="0"/>
              <a:t> </a:t>
            </a:r>
            <a:r>
              <a:rPr lang="en-US" sz="1700" dirty="0" err="1"/>
              <a:t>che</a:t>
            </a:r>
            <a:r>
              <a:rPr lang="en-US" sz="1700" dirty="0"/>
              <a:t> </a:t>
            </a:r>
            <a:r>
              <a:rPr lang="en-US" sz="1700" dirty="0" err="1"/>
              <a:t>risulta</a:t>
            </a:r>
            <a:r>
              <a:rPr lang="en-US" sz="1700" dirty="0"/>
              <a:t> </a:t>
            </a:r>
            <a:r>
              <a:rPr lang="en-US" sz="1700" dirty="0" err="1"/>
              <a:t>più</a:t>
            </a:r>
            <a:r>
              <a:rPr lang="en-US" sz="1700" dirty="0"/>
              <a:t> simile alla </a:t>
            </a:r>
            <a:r>
              <a:rPr lang="en-US" sz="1700" dirty="0" err="1"/>
              <a:t>protagonista</a:t>
            </a:r>
            <a:r>
              <a:rPr lang="en-US" sz="1700" dirty="0"/>
              <a:t> rispetto alla </a:t>
            </a:r>
            <a:r>
              <a:rPr lang="en-US" sz="1700" dirty="0" err="1"/>
              <a:t>sua</a:t>
            </a:r>
            <a:r>
              <a:rPr lang="en-US" sz="1700" dirty="0"/>
              <a:t> </a:t>
            </a:r>
            <a:r>
              <a:rPr lang="en-US" sz="1700" dirty="0" err="1"/>
              <a:t>migliore</a:t>
            </a:r>
            <a:r>
              <a:rPr lang="en-US" sz="1700" dirty="0"/>
              <a:t> </a:t>
            </a:r>
            <a:r>
              <a:rPr lang="en-US" sz="1700" dirty="0" err="1"/>
              <a:t>amica</a:t>
            </a:r>
            <a:r>
              <a:rPr lang="en-US" sz="1700" dirty="0"/>
              <a:t>? </a:t>
            </a:r>
            <a:r>
              <a:rPr lang="en-US" sz="1700" b="1" dirty="0"/>
              <a:t>Mentre quale </a:t>
            </a:r>
            <a:r>
              <a:rPr lang="en-US" sz="1700" b="1" dirty="0" err="1"/>
              <a:t>personaggio</a:t>
            </a:r>
            <a:r>
              <a:rPr lang="en-US" sz="1700" b="1" dirty="0"/>
              <a:t> </a:t>
            </a:r>
            <a:r>
              <a:rPr lang="en-US" sz="1700" b="1" dirty="0" err="1"/>
              <a:t>risulta</a:t>
            </a:r>
            <a:r>
              <a:rPr lang="en-US" sz="1700" b="1" dirty="0"/>
              <a:t> </a:t>
            </a:r>
            <a:r>
              <a:rPr lang="en-US" sz="1700" b="1" dirty="0" err="1"/>
              <a:t>nella</a:t>
            </a:r>
            <a:r>
              <a:rPr lang="en-US" sz="1700" b="1" dirty="0"/>
              <a:t> rete </a:t>
            </a:r>
            <a:r>
              <a:rPr lang="en-US" sz="1700" b="1" dirty="0" err="1"/>
              <a:t>quello</a:t>
            </a:r>
            <a:r>
              <a:rPr lang="en-US" sz="1700" b="1" dirty="0"/>
              <a:t> </a:t>
            </a:r>
            <a:r>
              <a:rPr lang="en-US" sz="1700" b="1" dirty="0" err="1"/>
              <a:t>più</a:t>
            </a:r>
            <a:r>
              <a:rPr lang="en-US" sz="1700" b="1" dirty="0"/>
              <a:t> </a:t>
            </a:r>
            <a:r>
              <a:rPr lang="en-US" sz="1700" b="1" dirty="0" err="1"/>
              <a:t>dissimile</a:t>
            </a:r>
            <a:r>
              <a:rPr lang="en-US" sz="1700" b="1" dirty="0"/>
              <a:t> rispetto alla </a:t>
            </a:r>
            <a:r>
              <a:rPr lang="en-US" sz="1700" b="1" dirty="0" err="1"/>
              <a:t>protagonista</a:t>
            </a:r>
            <a:r>
              <a:rPr lang="en-US" sz="1700" b="1" dirty="0"/>
              <a:t>? Quali </a:t>
            </a:r>
            <a:r>
              <a:rPr lang="en-US" sz="1700" b="1" dirty="0" err="1"/>
              <a:t>sono</a:t>
            </a:r>
            <a:r>
              <a:rPr lang="en-US" sz="1700" b="1" dirty="0"/>
              <a:t> </a:t>
            </a:r>
            <a:r>
              <a:rPr lang="en-US" sz="1700" b="1" dirty="0" err="1"/>
              <a:t>i</a:t>
            </a:r>
            <a:r>
              <a:rPr lang="en-US" sz="1700" b="1" dirty="0"/>
              <a:t> </a:t>
            </a:r>
            <a:r>
              <a:rPr lang="en-US" sz="1700" b="1" dirty="0" err="1"/>
              <a:t>primi</a:t>
            </a:r>
            <a:r>
              <a:rPr lang="en-US" sz="1700" b="1" dirty="0"/>
              <a:t> 5 </a:t>
            </a:r>
            <a:r>
              <a:rPr lang="en-US" sz="1700" b="1" dirty="0" err="1"/>
              <a:t>personaggi</a:t>
            </a:r>
            <a:r>
              <a:rPr lang="en-US" sz="1700" b="1" dirty="0"/>
              <a:t> </a:t>
            </a:r>
            <a:r>
              <a:rPr lang="en-US" sz="1700" b="1" dirty="0" err="1"/>
              <a:t>che</a:t>
            </a:r>
            <a:r>
              <a:rPr lang="en-US" sz="1700" b="1" dirty="0"/>
              <a:t> </a:t>
            </a:r>
            <a:r>
              <a:rPr lang="en-US" sz="1700" b="1" dirty="0" err="1"/>
              <a:t>possiedono</a:t>
            </a:r>
            <a:r>
              <a:rPr lang="en-US" sz="1700" b="1" dirty="0"/>
              <a:t> </a:t>
            </a:r>
            <a:r>
              <a:rPr lang="en-US" sz="1700" b="1" dirty="0" err="1"/>
              <a:t>relazioni</a:t>
            </a:r>
            <a:r>
              <a:rPr lang="en-US" sz="1700" b="1" dirty="0"/>
              <a:t> con </a:t>
            </a:r>
            <a:r>
              <a:rPr lang="en-US" sz="1700" b="1" dirty="0" err="1"/>
              <a:t>personaggi</a:t>
            </a:r>
            <a:r>
              <a:rPr lang="en-US" sz="1700" b="1" dirty="0"/>
              <a:t> molto </a:t>
            </a:r>
            <a:r>
              <a:rPr lang="en-US" sz="1700" b="1" dirty="0" err="1"/>
              <a:t>diversi</a:t>
            </a:r>
            <a:r>
              <a:rPr lang="en-US" sz="1700" b="1" dirty="0"/>
              <a:t> </a:t>
            </a:r>
            <a:r>
              <a:rPr lang="en-US" sz="1700" b="1" dirty="0" err="1"/>
              <a:t>tra</a:t>
            </a:r>
            <a:r>
              <a:rPr lang="en-US" sz="1700" b="1" dirty="0"/>
              <a:t> loro? </a:t>
            </a:r>
            <a:br>
              <a:rPr lang="en-US" sz="1700" dirty="0"/>
            </a:br>
            <a:br>
              <a:rPr lang="en-US" sz="1700" b="1" dirty="0"/>
            </a:br>
            <a:br>
              <a:rPr lang="en-US" sz="1700" b="1" dirty="0"/>
            </a:br>
            <a:endParaRPr lang="en-US" sz="1700" b="1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7DA6FE2-A27D-B4E6-045C-C3602408F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425" y="2078582"/>
            <a:ext cx="6522661" cy="403333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2E2F81AE-D664-9CD1-8085-3B50A1C89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3575273"/>
            <a:ext cx="5614416" cy="174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216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1FA9516-6A1A-2B37-7B94-3275BB03D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sono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inseriti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soprattutto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in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relazioni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positive? Quali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sono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maggiormente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coinvolti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in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dinamiche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conflittuali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Confrontando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la rete di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relazioni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della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stagione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2 con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quella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della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stagione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7, come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sono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evoluti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le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tipologie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di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rapporti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relazionali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di ogni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personaggio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1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nel</a:t>
            </a:r>
            <a: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tempo? </a:t>
            </a:r>
            <a:br>
              <a:rPr lang="en-US" sz="1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17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3E2ACCD-FABE-D203-7B5B-5636CE0456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1184678"/>
            <a:ext cx="7214616" cy="446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202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180DE06-7362-4888-AADA-7AADD57AC4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olo 1">
            <a:extLst>
              <a:ext uri="{FF2B5EF4-FFF2-40B4-BE49-F238E27FC236}">
                <a16:creationId xmlns:a16="http://schemas.microsoft.com/office/drawing/2014/main" id="{C1A33A5B-6015-4EE1-6BA1-B221BF60F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6429" y="2704940"/>
            <a:ext cx="5132624" cy="291759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sono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inseriti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soprattutto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in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relazioni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positive? </a:t>
            </a:r>
            <a:b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sono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maggiormente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coinvolti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in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dinamiche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conflittuali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 </a:t>
            </a:r>
            <a:b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Confrontando</a:t>
            </a:r>
            <a: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la rete di </a:t>
            </a:r>
            <a:r>
              <a:rPr lang="en-US" sz="2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relazioni</a:t>
            </a:r>
            <a: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della </a:t>
            </a:r>
            <a:r>
              <a:rPr lang="en-US" sz="2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stagione</a:t>
            </a:r>
            <a: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2 con </a:t>
            </a:r>
            <a:r>
              <a:rPr lang="en-US" sz="2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quella</a:t>
            </a:r>
            <a: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della </a:t>
            </a:r>
            <a:r>
              <a:rPr lang="en-US" sz="2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stagione</a:t>
            </a:r>
            <a: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7, come </a:t>
            </a:r>
            <a:r>
              <a:rPr lang="en-US" sz="2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sono</a:t>
            </a:r>
            <a: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evoluti</a:t>
            </a:r>
            <a: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le </a:t>
            </a:r>
            <a:r>
              <a:rPr lang="en-US" sz="2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tipologie</a:t>
            </a:r>
            <a: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di </a:t>
            </a:r>
            <a:r>
              <a:rPr lang="en-US" sz="2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rapporti</a:t>
            </a:r>
            <a: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relazionali</a:t>
            </a:r>
            <a: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di ogni </a:t>
            </a:r>
            <a:r>
              <a:rPr lang="en-US" sz="2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personaggio</a:t>
            </a:r>
            <a: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nel</a:t>
            </a:r>
            <a:r>
              <a:rPr lang="en-US" sz="27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tempo</a:t>
            </a:r>
            <a:r>
              <a:rPr lang="en-US" sz="2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 </a:t>
            </a:r>
            <a:br>
              <a:rPr lang="en-US" sz="2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0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2218698" y="2733627"/>
            <a:ext cx="1340409" cy="5777807"/>
            <a:chOff x="329184" y="2"/>
            <a:chExt cx="524256" cy="5777807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2"/>
              <a:ext cx="524256" cy="566677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372533"/>
            <a:ext cx="6116779" cy="606872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352249AB-75C0-FF20-AE62-E7525A8FD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597" y="1694869"/>
            <a:ext cx="5608830" cy="346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03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1DC6ABD-215C-4EA8-A483-CEF5B99AB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70AFD3E-A7B7-2559-92BE-6C06E709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73" y="2135307"/>
            <a:ext cx="5212453" cy="3736540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Quanto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l’importanza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della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figura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professionale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del capo di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chirurgia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Richard coincide con la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sua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importanza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all’interno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della rete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relazionale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</a:t>
            </a:r>
            <a:b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Rispetto alle diverse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tipologie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di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relazioni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conflittuali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e non, di ogni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personaggio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quanto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ogni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personaggio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ha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effettivamente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un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ruolo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centrale </a:t>
            </a:r>
            <a:r>
              <a:rPr lang="en-US" sz="24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nella</a:t>
            </a:r>
            <a: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rete?</a:t>
            </a:r>
            <a:br>
              <a:rPr lang="en-US" sz="24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4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86598" y="269324"/>
            <a:ext cx="6116779" cy="620877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AD712DD-ACC3-7EAB-D96E-8457518DB4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716" y="1369464"/>
            <a:ext cx="6045661" cy="3738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496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7FF3E6B4-6F93-BB4E-5A40-3D0AE7516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457200" indent="-457200" algn="ctr">
              <a:buFont typeface="+mj-lt"/>
              <a:buAutoNum type="arabicPeriod" startAt="8"/>
            </a:pPr>
            <a:r>
              <a:rPr lang="it-IT" sz="2500" b="1" dirty="0"/>
              <a:t>E’ possibile individuare delle comunità relazionali tra i personaggi della seconda stagione? Come variano le comunità individuate nella settimana stagione?</a:t>
            </a:r>
            <a:br>
              <a:rPr lang="en-US" sz="2500" dirty="0"/>
            </a:br>
            <a:endParaRPr lang="en-US" sz="2500" dirty="0"/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2B3A273-60B8-4515-E9E1-F133F525D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541" y="2642616"/>
            <a:ext cx="4305413" cy="3605784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AA3B7E74-C4D6-8157-F8D3-5C2B8EBB7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255" y="2642616"/>
            <a:ext cx="4728897" cy="3605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23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CB21583-855E-5EE9-A553-6DB9341CA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460" y="556104"/>
            <a:ext cx="4652046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457200" indent="-457200">
              <a:buFont typeface="+mj-lt"/>
              <a:buAutoNum type="arabicPeriod" startAt="9"/>
            </a:pPr>
            <a:r>
              <a:rPr lang="en-US" sz="1800" b="1" dirty="0"/>
              <a:t>Quali </a:t>
            </a:r>
            <a:r>
              <a:rPr lang="en-US" sz="1800" b="1" dirty="0" err="1"/>
              <a:t>sono</a:t>
            </a:r>
            <a:r>
              <a:rPr lang="en-US" sz="1800" b="1" dirty="0"/>
              <a:t> le parole </a:t>
            </a:r>
            <a:r>
              <a:rPr lang="en-US" sz="1800" b="1" dirty="0" err="1"/>
              <a:t>che</a:t>
            </a:r>
            <a:r>
              <a:rPr lang="en-US" sz="1800" b="1" dirty="0"/>
              <a:t> </a:t>
            </a:r>
            <a:r>
              <a:rPr lang="en-US" sz="1800" b="1" dirty="0" err="1"/>
              <a:t>vengono</a:t>
            </a:r>
            <a:r>
              <a:rPr lang="en-US" sz="1800" b="1" dirty="0"/>
              <a:t> </a:t>
            </a:r>
            <a:r>
              <a:rPr lang="en-US" sz="1800" b="1" dirty="0" err="1"/>
              <a:t>utilizzate</a:t>
            </a:r>
            <a:r>
              <a:rPr lang="en-US" sz="1800" b="1" dirty="0"/>
              <a:t> </a:t>
            </a:r>
            <a:r>
              <a:rPr lang="en-US" sz="1800" b="1" dirty="0" err="1"/>
              <a:t>più</a:t>
            </a:r>
            <a:r>
              <a:rPr lang="en-US" sz="1800" b="1" dirty="0"/>
              <a:t> </a:t>
            </a:r>
            <a:r>
              <a:rPr lang="en-US" sz="1800" b="1" dirty="0" err="1"/>
              <a:t>frequentemente</a:t>
            </a:r>
            <a:r>
              <a:rPr lang="en-US" sz="1800" b="1" dirty="0"/>
              <a:t>? Le parole </a:t>
            </a:r>
            <a:r>
              <a:rPr lang="en-US" sz="1800" b="1" dirty="0" err="1"/>
              <a:t>maggiormente</a:t>
            </a:r>
            <a:r>
              <a:rPr lang="en-US" sz="1800" b="1" dirty="0"/>
              <a:t> </a:t>
            </a:r>
            <a:r>
              <a:rPr lang="en-US" sz="1800" b="1" dirty="0" err="1"/>
              <a:t>utilizzate</a:t>
            </a:r>
            <a:r>
              <a:rPr lang="en-US" sz="1800" b="1" dirty="0"/>
              <a:t> </a:t>
            </a:r>
            <a:r>
              <a:rPr lang="en-US" sz="1800" b="1" dirty="0" err="1"/>
              <a:t>sono</a:t>
            </a:r>
            <a:r>
              <a:rPr lang="en-US" sz="1800" b="1" dirty="0"/>
              <a:t> </a:t>
            </a:r>
            <a:r>
              <a:rPr lang="en-US" sz="1800" b="1" dirty="0" err="1"/>
              <a:t>coerenti</a:t>
            </a:r>
            <a:r>
              <a:rPr lang="en-US" sz="1800" b="1" dirty="0"/>
              <a:t> con la </a:t>
            </a:r>
            <a:r>
              <a:rPr lang="en-US" sz="1800" b="1" dirty="0" err="1"/>
              <a:t>trama</a:t>
            </a:r>
            <a:r>
              <a:rPr lang="en-US" sz="1800" b="1" dirty="0"/>
              <a:t> </a:t>
            </a:r>
            <a:r>
              <a:rPr lang="en-US" sz="1800" b="1" dirty="0" err="1"/>
              <a:t>trattata</a:t>
            </a:r>
            <a:r>
              <a:rPr lang="en-US" sz="1800" b="1" dirty="0"/>
              <a:t> </a:t>
            </a:r>
            <a:r>
              <a:rPr lang="en-US" sz="1800" b="1" dirty="0" err="1"/>
              <a:t>nella</a:t>
            </a:r>
            <a:r>
              <a:rPr lang="en-US" sz="1800" b="1" dirty="0"/>
              <a:t> </a:t>
            </a:r>
            <a:r>
              <a:rPr lang="en-US" sz="1800" b="1" dirty="0" err="1"/>
              <a:t>seconda</a:t>
            </a:r>
            <a:r>
              <a:rPr lang="en-US" sz="1800" b="1" dirty="0"/>
              <a:t> </a:t>
            </a:r>
            <a:r>
              <a:rPr lang="en-US" sz="1800" b="1" dirty="0" err="1"/>
              <a:t>stagione</a:t>
            </a:r>
            <a:r>
              <a:rPr lang="en-US" sz="1800" b="1" dirty="0"/>
              <a:t>? Quali tipi di </a:t>
            </a:r>
            <a:r>
              <a:rPr lang="en-US" sz="1800" b="1" dirty="0" err="1"/>
              <a:t>temi</a:t>
            </a:r>
            <a:r>
              <a:rPr lang="en-US" sz="1800" b="1" dirty="0"/>
              <a:t> e </a:t>
            </a:r>
            <a:r>
              <a:rPr lang="en-US" sz="1800" b="1" dirty="0" err="1"/>
              <a:t>sentimenti</a:t>
            </a:r>
            <a:r>
              <a:rPr lang="en-US" sz="1800" b="1" dirty="0"/>
              <a:t> </a:t>
            </a:r>
            <a:r>
              <a:rPr lang="en-US" sz="1800" b="1" dirty="0" err="1"/>
              <a:t>vengono</a:t>
            </a:r>
            <a:r>
              <a:rPr lang="en-US" sz="1800" b="1" dirty="0"/>
              <a:t> </a:t>
            </a:r>
            <a:r>
              <a:rPr lang="en-US" sz="1800" b="1" dirty="0" err="1"/>
              <a:t>trattati</a:t>
            </a:r>
            <a:r>
              <a:rPr lang="en-US" sz="1800" b="1" dirty="0"/>
              <a:t>? </a:t>
            </a:r>
            <a:br>
              <a:rPr lang="en-US" sz="1800" b="1" dirty="0"/>
            </a:br>
            <a:br>
              <a:rPr lang="en-US" sz="1800" b="1" dirty="0"/>
            </a:br>
            <a:r>
              <a:rPr lang="en-US" sz="1800" dirty="0"/>
              <a:t>Quali </a:t>
            </a:r>
            <a:r>
              <a:rPr lang="en-US" sz="1800" dirty="0" err="1"/>
              <a:t>sono</a:t>
            </a:r>
            <a:r>
              <a:rPr lang="en-US" sz="1800" dirty="0"/>
              <a:t> le parole </a:t>
            </a:r>
            <a:r>
              <a:rPr lang="en-US" sz="1800" dirty="0" err="1"/>
              <a:t>maggiormente</a:t>
            </a:r>
            <a:r>
              <a:rPr lang="en-US" sz="1800" dirty="0"/>
              <a:t> </a:t>
            </a:r>
            <a:r>
              <a:rPr lang="en-US" sz="1800" dirty="0" err="1"/>
              <a:t>utilizzate</a:t>
            </a:r>
            <a:r>
              <a:rPr lang="en-US" sz="1800" dirty="0"/>
              <a:t> </a:t>
            </a:r>
            <a:r>
              <a:rPr lang="en-US" sz="1800" dirty="0" err="1"/>
              <a:t>che</a:t>
            </a:r>
            <a:r>
              <a:rPr lang="en-US" sz="1800" dirty="0"/>
              <a:t> </a:t>
            </a:r>
            <a:r>
              <a:rPr lang="en-US" sz="1800" dirty="0" err="1"/>
              <a:t>esprimono</a:t>
            </a:r>
            <a:r>
              <a:rPr lang="en-US" sz="1800" dirty="0"/>
              <a:t> </a:t>
            </a:r>
            <a:r>
              <a:rPr lang="en-US" sz="1800" dirty="0" err="1"/>
              <a:t>sentimenti</a:t>
            </a:r>
            <a:r>
              <a:rPr lang="en-US" sz="1800" dirty="0"/>
              <a:t> </a:t>
            </a:r>
            <a:r>
              <a:rPr lang="en-US" sz="1800" dirty="0" err="1"/>
              <a:t>positivi</a:t>
            </a:r>
            <a:r>
              <a:rPr lang="en-US" sz="1800" dirty="0"/>
              <a:t> o </a:t>
            </a:r>
            <a:r>
              <a:rPr lang="en-US" sz="1800" dirty="0" err="1"/>
              <a:t>negativi</a:t>
            </a:r>
            <a:r>
              <a:rPr lang="en-US" sz="1800" dirty="0"/>
              <a:t>?</a:t>
            </a:r>
            <a:br>
              <a:rPr lang="en-US" sz="1800" dirty="0"/>
            </a:br>
            <a:endParaRPr lang="en-US" sz="1800" dirty="0"/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090DDA3-7EFB-89F8-30E3-16546D1B6C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16" r="18863" b="4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09801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EE6C6-3576-8202-EB0A-292CE9F57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2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24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5CFD5D14-B49F-88B3-C953-ED3DD2C12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28" y="802042"/>
            <a:ext cx="4620584" cy="47306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457200" indent="-457200">
              <a:buFont typeface="+mj-lt"/>
              <a:buAutoNum type="arabicPeriod" startAt="9"/>
            </a:pP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sono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le parole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vengono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utilizzate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più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frequentemente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 Le parole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maggiormente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utilizzate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sono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coerenti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con la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trama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trattata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nella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seconda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stagione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 Quali tipi di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temi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e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sentimenti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vengono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trattati</a:t>
            </a:r>
            <a: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 </a:t>
            </a:r>
            <a:b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100" dirty="0"/>
            </a:br>
            <a:br>
              <a:rPr lang="en-US" sz="2100" dirty="0"/>
            </a:b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Quali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sono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le parole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maggiormente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utilizzate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che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esprimono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sentimenti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positivi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o </a:t>
            </a:r>
            <a:r>
              <a:rPr lang="en-US" sz="21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negativi</a:t>
            </a:r>
            <a:r>
              <a:rPr lang="en-US" sz="2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</a:t>
            </a:r>
            <a:br>
              <a:rPr lang="en-US" sz="2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CE7FC02C-EA28-6550-EED9-0D172F6FE1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052" y="1325337"/>
            <a:ext cx="6804035" cy="420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097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F7D1949-B822-0900-3C5E-7DA9E1A6B40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80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olo 1">
            <a:extLst>
              <a:ext uri="{FF2B5EF4-FFF2-40B4-BE49-F238E27FC236}">
                <a16:creationId xmlns:a16="http://schemas.microsoft.com/office/drawing/2014/main" id="{3A4B2E63-48F2-9990-C07C-8B533164A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65862"/>
            <a:ext cx="6052955" cy="47262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>
                <a:ln w="22225">
                  <a:solidFill>
                    <a:srgbClr val="FFFFFF"/>
                  </a:solidFill>
                </a:ln>
                <a:noFill/>
              </a:rPr>
              <a:t>Conclusioni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6A8629B-8289-498B-939B-1CA0C10618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2899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D28C6EF-CA5D-74BD-B6A8-FF906E1AD9C2}"/>
              </a:ext>
            </a:extLst>
          </p:cNvPr>
          <p:cNvSpPr txBox="1"/>
          <p:nvPr/>
        </p:nvSpPr>
        <p:spPr>
          <a:xfrm>
            <a:off x="7534640" y="1065862"/>
            <a:ext cx="4657339" cy="55085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Il </a:t>
            </a:r>
            <a:r>
              <a:rPr lang="en-US" sz="1600" dirty="0" err="1">
                <a:solidFill>
                  <a:srgbClr val="FFFFFF"/>
                </a:solidFill>
              </a:rPr>
              <a:t>confronto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tra</a:t>
            </a:r>
            <a:r>
              <a:rPr lang="en-US" sz="1600" dirty="0">
                <a:solidFill>
                  <a:srgbClr val="FFFFFF"/>
                </a:solidFill>
              </a:rPr>
              <a:t> la </a:t>
            </a:r>
            <a:r>
              <a:rPr lang="en-US" sz="1600" dirty="0" err="1">
                <a:solidFill>
                  <a:srgbClr val="FFFFFF"/>
                </a:solidFill>
              </a:rPr>
              <a:t>seconda</a:t>
            </a:r>
            <a:r>
              <a:rPr lang="en-US" sz="1600" dirty="0">
                <a:solidFill>
                  <a:srgbClr val="FFFFFF"/>
                </a:solidFill>
              </a:rPr>
              <a:t> e la </a:t>
            </a:r>
            <a:r>
              <a:rPr lang="en-US" sz="1600" dirty="0" err="1">
                <a:solidFill>
                  <a:srgbClr val="FFFFFF"/>
                </a:solidFill>
              </a:rPr>
              <a:t>settima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stagione</a:t>
            </a:r>
            <a:r>
              <a:rPr lang="en-US" sz="1600" dirty="0">
                <a:solidFill>
                  <a:srgbClr val="FFFFFF"/>
                </a:solidFill>
              </a:rPr>
              <a:t> di </a:t>
            </a:r>
            <a:r>
              <a:rPr lang="en-US" sz="1600" i="1" dirty="0">
                <a:solidFill>
                  <a:srgbClr val="FFFFFF"/>
                </a:solidFill>
              </a:rPr>
              <a:t>Grey's Anatomy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evidenzia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una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significativa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evoluzione</a:t>
            </a:r>
            <a:r>
              <a:rPr lang="en-US" sz="1600" dirty="0">
                <a:solidFill>
                  <a:srgbClr val="FFFFFF"/>
                </a:solidFill>
              </a:rPr>
              <a:t> della </a:t>
            </a:r>
            <a:r>
              <a:rPr lang="en-US" sz="1600" dirty="0" err="1">
                <a:solidFill>
                  <a:srgbClr val="FFFFFF"/>
                </a:solidFill>
              </a:rPr>
              <a:t>struttura</a:t>
            </a:r>
            <a:r>
              <a:rPr lang="en-US" sz="1600" dirty="0">
                <a:solidFill>
                  <a:srgbClr val="FFFFFF"/>
                </a:solidFill>
              </a:rPr>
              <a:t> della rete </a:t>
            </a:r>
            <a:r>
              <a:rPr lang="en-US" sz="1600" dirty="0" err="1">
                <a:solidFill>
                  <a:srgbClr val="FFFFFF"/>
                </a:solidFill>
              </a:rPr>
              <a:t>sociale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dei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personaggi</a:t>
            </a:r>
            <a:endParaRPr lang="en-US" sz="1600" dirty="0">
              <a:solidFill>
                <a:srgbClr val="FFFFFF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Nella </a:t>
            </a:r>
            <a:r>
              <a:rPr lang="en-US" sz="1600" dirty="0" err="1">
                <a:solidFill>
                  <a:srgbClr val="FFFFFF"/>
                </a:solidFill>
              </a:rPr>
              <a:t>seconda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stagione</a:t>
            </a:r>
            <a:r>
              <a:rPr lang="en-US" sz="1600" dirty="0">
                <a:solidFill>
                  <a:srgbClr val="FFFFFF"/>
                </a:solidFill>
              </a:rPr>
              <a:t> la rete </a:t>
            </a:r>
            <a:r>
              <a:rPr lang="en-US" sz="1600" dirty="0" err="1">
                <a:solidFill>
                  <a:srgbClr val="FFFFFF"/>
                </a:solidFill>
              </a:rPr>
              <a:t>risulta</a:t>
            </a:r>
            <a:r>
              <a:rPr lang="en-US" sz="1600" dirty="0">
                <a:solidFill>
                  <a:srgbClr val="FFFFFF"/>
                </a:solidFill>
              </a:rPr>
              <a:t> fortemente </a:t>
            </a:r>
            <a:r>
              <a:rPr lang="en-US" sz="1600" dirty="0" err="1">
                <a:solidFill>
                  <a:srgbClr val="FFFFFF"/>
                </a:solidFill>
              </a:rPr>
              <a:t>concentrata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attorno</a:t>
            </a:r>
            <a:r>
              <a:rPr lang="en-US" sz="1600" dirty="0">
                <a:solidFill>
                  <a:srgbClr val="FFFFFF"/>
                </a:solidFill>
              </a:rPr>
              <a:t> a </a:t>
            </a:r>
            <a:r>
              <a:rPr lang="en-US" sz="1600" dirty="0" err="1">
                <a:solidFill>
                  <a:srgbClr val="FFFFFF"/>
                </a:solidFill>
              </a:rPr>
              <a:t>pochi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personaggi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chiave</a:t>
            </a:r>
            <a:r>
              <a:rPr lang="en-US" sz="1600" dirty="0">
                <a:solidFill>
                  <a:srgbClr val="FFFFFF"/>
                </a:solidFill>
              </a:rPr>
              <a:t>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FFFFFF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Nella </a:t>
            </a:r>
            <a:r>
              <a:rPr lang="en-US" sz="1600" dirty="0" err="1">
                <a:solidFill>
                  <a:srgbClr val="FFFFFF"/>
                </a:solidFill>
              </a:rPr>
              <a:t>settima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stagione</a:t>
            </a:r>
            <a:r>
              <a:rPr lang="en-US" sz="1600" dirty="0">
                <a:solidFill>
                  <a:srgbClr val="FFFFFF"/>
                </a:solidFill>
              </a:rPr>
              <a:t>, </a:t>
            </a:r>
            <a:r>
              <a:rPr lang="en-US" sz="1600" dirty="0" err="1">
                <a:solidFill>
                  <a:srgbClr val="FFFFFF"/>
                </a:solidFill>
              </a:rPr>
              <a:t>invece</a:t>
            </a:r>
            <a:r>
              <a:rPr lang="en-US" sz="1600" dirty="0">
                <a:solidFill>
                  <a:srgbClr val="FFFFFF"/>
                </a:solidFill>
              </a:rPr>
              <a:t>, la rete </a:t>
            </a:r>
            <a:r>
              <a:rPr lang="en-US" sz="1600" dirty="0" err="1">
                <a:solidFill>
                  <a:srgbClr val="FFFFFF"/>
                </a:solidFill>
              </a:rPr>
              <a:t>tende</a:t>
            </a:r>
            <a:r>
              <a:rPr lang="en-US" sz="1600" dirty="0">
                <a:solidFill>
                  <a:srgbClr val="FFFFFF"/>
                </a:solidFill>
              </a:rPr>
              <a:t> a </a:t>
            </a:r>
            <a:r>
              <a:rPr lang="en-US" sz="1600" dirty="0" err="1">
                <a:solidFill>
                  <a:srgbClr val="FFFFFF"/>
                </a:solidFill>
              </a:rPr>
              <a:t>diventare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più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articolata</a:t>
            </a:r>
            <a:r>
              <a:rPr lang="en-US" sz="1600" dirty="0">
                <a:solidFill>
                  <a:srgbClr val="FFFFFF"/>
                </a:solidFill>
              </a:rPr>
              <a:t> e </a:t>
            </a:r>
            <a:r>
              <a:rPr lang="en-US" sz="1600" dirty="0" err="1">
                <a:solidFill>
                  <a:srgbClr val="FFFFFF"/>
                </a:solidFill>
              </a:rPr>
              <a:t>distribuita</a:t>
            </a:r>
            <a:r>
              <a:rPr lang="en-US" sz="1600" dirty="0">
                <a:solidFill>
                  <a:srgbClr val="FFFFFF"/>
                </a:solidFill>
              </a:rPr>
              <a:t>.</a:t>
            </a:r>
          </a:p>
          <a:p>
            <a:pPr marL="57150">
              <a:lnSpc>
                <a:spcPct val="90000"/>
              </a:lnSpc>
              <a:spcAft>
                <a:spcPts val="600"/>
              </a:spcAft>
            </a:pPr>
            <a:endParaRPr lang="en-US" sz="1600" dirty="0">
              <a:solidFill>
                <a:srgbClr val="FFFFFF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Nella </a:t>
            </a:r>
            <a:r>
              <a:rPr lang="en-US" sz="1600" dirty="0" err="1">
                <a:solidFill>
                  <a:srgbClr val="FFFFFF"/>
                </a:solidFill>
              </a:rPr>
              <a:t>seconda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stagione</a:t>
            </a:r>
            <a:r>
              <a:rPr lang="en-US" sz="1600" dirty="0">
                <a:solidFill>
                  <a:srgbClr val="FFFFFF"/>
                </a:solidFill>
              </a:rPr>
              <a:t> il focus è </a:t>
            </a:r>
            <a:r>
              <a:rPr lang="en-US" sz="1600" dirty="0" err="1">
                <a:solidFill>
                  <a:srgbClr val="FFFFFF"/>
                </a:solidFill>
              </a:rPr>
              <a:t>principalmente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sul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percorso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formativo</a:t>
            </a:r>
            <a:r>
              <a:rPr lang="en-US" sz="1600" dirty="0">
                <a:solidFill>
                  <a:srgbClr val="FFFFFF"/>
                </a:solidFill>
              </a:rPr>
              <a:t> degli </a:t>
            </a:r>
            <a:r>
              <a:rPr lang="en-US" sz="1600" dirty="0" err="1">
                <a:solidFill>
                  <a:srgbClr val="FFFFFF"/>
                </a:solidFill>
              </a:rPr>
              <a:t>specializzandi</a:t>
            </a:r>
            <a:r>
              <a:rPr lang="en-US" sz="1600" dirty="0">
                <a:solidFill>
                  <a:srgbClr val="FFFFFF"/>
                </a:solidFill>
              </a:rPr>
              <a:t> e </a:t>
            </a:r>
            <a:r>
              <a:rPr lang="en-US" sz="1600" dirty="0" err="1">
                <a:solidFill>
                  <a:srgbClr val="FFFFFF"/>
                </a:solidFill>
              </a:rPr>
              <a:t>sulle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relazioni</a:t>
            </a:r>
            <a:r>
              <a:rPr lang="en-US" sz="1600" dirty="0">
                <a:solidFill>
                  <a:srgbClr val="FFFFFF"/>
                </a:solidFill>
              </a:rPr>
              <a:t> con </a:t>
            </a:r>
            <a:r>
              <a:rPr lang="en-US" sz="1600" dirty="0" err="1">
                <a:solidFill>
                  <a:srgbClr val="FFFFFF"/>
                </a:solidFill>
              </a:rPr>
              <a:t>i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rispettivi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supervisori</a:t>
            </a:r>
            <a:r>
              <a:rPr lang="en-US" sz="1600" dirty="0">
                <a:solidFill>
                  <a:srgbClr val="FFFFFF"/>
                </a:solidFill>
              </a:rPr>
              <a:t>, </a:t>
            </a:r>
            <a:r>
              <a:rPr lang="en-US" sz="1600" dirty="0" err="1">
                <a:solidFill>
                  <a:srgbClr val="FFFFFF"/>
                </a:solidFill>
              </a:rPr>
              <a:t>nella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settima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stagione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molti</a:t>
            </a:r>
            <a:r>
              <a:rPr lang="en-US" sz="1600" dirty="0">
                <a:solidFill>
                  <a:srgbClr val="FFFFFF"/>
                </a:solidFill>
              </a:rPr>
              <a:t> di </a:t>
            </a:r>
            <a:r>
              <a:rPr lang="en-US" sz="1600" dirty="0" err="1">
                <a:solidFill>
                  <a:srgbClr val="FFFFFF"/>
                </a:solidFill>
              </a:rPr>
              <a:t>questi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personaggi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sono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ormai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medici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affermati</a:t>
            </a:r>
            <a:r>
              <a:rPr lang="en-US" sz="1600" dirty="0">
                <a:solidFill>
                  <a:srgbClr val="FFFFFF"/>
                </a:solidFill>
              </a:rPr>
              <a:t>, con </a:t>
            </a:r>
            <a:r>
              <a:rPr lang="en-US" sz="1600" dirty="0" err="1">
                <a:solidFill>
                  <a:srgbClr val="FFFFFF"/>
                </a:solidFill>
              </a:rPr>
              <a:t>responsabilità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professionali</a:t>
            </a:r>
            <a:r>
              <a:rPr lang="en-US" sz="1600" dirty="0">
                <a:solidFill>
                  <a:srgbClr val="FFFFFF"/>
                </a:solidFill>
              </a:rPr>
              <a:t> e </a:t>
            </a:r>
            <a:r>
              <a:rPr lang="en-US" sz="1600" dirty="0" err="1">
                <a:solidFill>
                  <a:srgbClr val="FFFFFF"/>
                </a:solidFill>
              </a:rPr>
              <a:t>personali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che</a:t>
            </a:r>
            <a:r>
              <a:rPr lang="en-US" sz="1600" dirty="0">
                <a:solidFill>
                  <a:srgbClr val="FFFFFF"/>
                </a:solidFill>
              </a:rPr>
              <a:t> </a:t>
            </a:r>
            <a:r>
              <a:rPr lang="en-US" sz="1600" dirty="0" err="1">
                <a:solidFill>
                  <a:srgbClr val="FFFFFF"/>
                </a:solidFill>
              </a:rPr>
              <a:t>ampliano</a:t>
            </a:r>
            <a:r>
              <a:rPr lang="en-US" sz="1600" dirty="0">
                <a:solidFill>
                  <a:srgbClr val="FFFFFF"/>
                </a:solidFill>
              </a:rPr>
              <a:t> il </a:t>
            </a:r>
            <a:r>
              <a:rPr lang="en-US" sz="1600" dirty="0" err="1">
                <a:solidFill>
                  <a:srgbClr val="FFFFFF"/>
                </a:solidFill>
              </a:rPr>
              <a:t>numero</a:t>
            </a:r>
            <a:r>
              <a:rPr lang="en-US" sz="1600" dirty="0">
                <a:solidFill>
                  <a:srgbClr val="FFFFFF"/>
                </a:solidFill>
              </a:rPr>
              <a:t> e la </a:t>
            </a:r>
            <a:r>
              <a:rPr lang="en-US" sz="1600" dirty="0" err="1">
                <a:solidFill>
                  <a:srgbClr val="FFFFFF"/>
                </a:solidFill>
              </a:rPr>
              <a:t>varietà</a:t>
            </a:r>
            <a:r>
              <a:rPr lang="en-US" sz="1600" dirty="0">
                <a:solidFill>
                  <a:srgbClr val="FFFFFF"/>
                </a:solidFill>
              </a:rPr>
              <a:t> delle loro </a:t>
            </a:r>
            <a:r>
              <a:rPr lang="en-US" sz="1600" dirty="0" err="1">
                <a:solidFill>
                  <a:srgbClr val="FFFFFF"/>
                </a:solidFill>
              </a:rPr>
              <a:t>interazioni</a:t>
            </a:r>
            <a:r>
              <a:rPr lang="en-US" sz="1600" dirty="0">
                <a:solidFill>
                  <a:srgbClr val="FFFFFF"/>
                </a:solidFill>
              </a:rPr>
              <a:t>.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0455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A66CD1D-7953-D45A-8CC4-E4774B80A3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92186"/>
            <a:ext cx="12192000" cy="7620000"/>
          </a:xfrm>
          <a:prstGeom prst="rect">
            <a:avLst/>
          </a:prstGeom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C94548FF-67C1-4F8C-3E1A-AAE1F220CD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22421" y="-292185"/>
            <a:ext cx="12776886" cy="7912184"/>
          </a:xfrm>
          <a:prstGeom prst="rect">
            <a:avLst/>
          </a:prstGeom>
          <a:gradFill flip="none" rotWithShape="0">
            <a:gsLst>
              <a:gs pos="100000">
                <a:srgbClr val="1F2229">
                  <a:alpha val="60000"/>
                </a:srgbClr>
              </a:gs>
              <a:gs pos="20000">
                <a:srgbClr val="1F2229">
                  <a:alpha val="91765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/>
          </a:p>
        </p:txBody>
      </p:sp>
      <p:grpSp>
        <p:nvGrpSpPr>
          <p:cNvPr id="21" name="Gruppo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757714" y="1626921"/>
            <a:ext cx="6676572" cy="3604160"/>
            <a:chOff x="2162629" y="1305681"/>
            <a:chExt cx="7866742" cy="4246640"/>
          </a:xfrm>
        </p:grpSpPr>
        <p:sp>
          <p:nvSpPr>
            <p:cNvPr id="17" name="Ovale 16"/>
            <p:cNvSpPr/>
            <p:nvPr/>
          </p:nvSpPr>
          <p:spPr>
            <a:xfrm>
              <a:off x="5782715" y="1305681"/>
              <a:ext cx="4246656" cy="4246640"/>
            </a:xfrm>
            <a:prstGeom prst="ellipse">
              <a:avLst/>
            </a:prstGeom>
            <a:solidFill>
              <a:srgbClr val="43CDD9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 dirty="0"/>
            </a:p>
          </p:txBody>
        </p:sp>
        <p:sp>
          <p:nvSpPr>
            <p:cNvPr id="18" name="Ovale 17"/>
            <p:cNvSpPr/>
            <p:nvPr/>
          </p:nvSpPr>
          <p:spPr>
            <a:xfrm>
              <a:off x="2162629" y="1305681"/>
              <a:ext cx="4246656" cy="4246640"/>
            </a:xfrm>
            <a:prstGeom prst="ellipse">
              <a:avLst/>
            </a:prstGeom>
            <a:solidFill>
              <a:srgbClr val="43CDD9">
                <a:alpha val="3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it-IT" dirty="0"/>
            </a:p>
          </p:txBody>
        </p:sp>
      </p:grpSp>
      <p:sp>
        <p:nvSpPr>
          <p:cNvPr id="16" name="Ovale 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56507" y="789512"/>
            <a:ext cx="5278993" cy="5278976"/>
          </a:xfrm>
          <a:prstGeom prst="ellipse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9" name="Ova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79010" y="1212017"/>
            <a:ext cx="4433981" cy="4433966"/>
          </a:xfrm>
          <a:prstGeom prst="ellipse">
            <a:avLst/>
          </a:pr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13" name="Casella di testo 12"/>
          <p:cNvSpPr txBox="1"/>
          <p:nvPr/>
        </p:nvSpPr>
        <p:spPr>
          <a:xfrm>
            <a:off x="2366616" y="3059668"/>
            <a:ext cx="7458773" cy="73866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 rtl="0">
              <a:tabLst>
                <a:tab pos="347663" algn="l"/>
              </a:tabLst>
            </a:pPr>
            <a:r>
              <a:rPr lang="it-IT" sz="4800" b="1" dirty="0">
                <a:solidFill>
                  <a:srgbClr val="FFFFFF"/>
                </a:solidFill>
                <a:latin typeface="+mj-lt"/>
              </a:rPr>
              <a:t>GRAZIE PER L’ATTENZIONE</a:t>
            </a:r>
          </a:p>
        </p:txBody>
      </p:sp>
      <p:sp>
        <p:nvSpPr>
          <p:cNvPr id="2" name="Titolo 1" hidden="1">
            <a:extLst>
              <a:ext uri="{FF2B5EF4-FFF2-40B4-BE49-F238E27FC236}">
                <a16:creationId xmlns:a16="http://schemas.microsoft.com/office/drawing/2014/main" id="{10E603A3-B905-4FE4-AF3D-7ABD07598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it-IT" dirty="0"/>
              <a:t>Diapositiva 11</a:t>
            </a:r>
          </a:p>
        </p:txBody>
      </p:sp>
    </p:spTree>
    <p:extLst>
      <p:ext uri="{BB962C8B-B14F-4D97-AF65-F5344CB8AC3E}">
        <p14:creationId xmlns:p14="http://schemas.microsoft.com/office/powerpoint/2010/main" val="33456282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7542836_TF88930311.potx" id="{64AD06AC-930D-41B0-A56D-460381E163C2}" vid="{B6EA4372-BD7F-414A-B309-C86891056F14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Presentazione basata sui dati, di 24Slides</Template>
  <TotalTime>551</TotalTime>
  <Words>1174</Words>
  <Application>Microsoft Office PowerPoint</Application>
  <PresentationFormat>Widescreen</PresentationFormat>
  <Paragraphs>57</Paragraphs>
  <Slides>20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5" baseType="lpstr">
      <vt:lpstr>Arial</vt:lpstr>
      <vt:lpstr>Calibri</vt:lpstr>
      <vt:lpstr>Century Gothic</vt:lpstr>
      <vt:lpstr>Segoe UI Light</vt:lpstr>
      <vt:lpstr>Tema di Office</vt:lpstr>
      <vt:lpstr>Diapositiva 1</vt:lpstr>
      <vt:lpstr>Introduzione</vt:lpstr>
      <vt:lpstr>Fonte dati</vt:lpstr>
      <vt:lpstr>Analisi della rete relazionale</vt:lpstr>
      <vt:lpstr>Quali sono i personaggi che hanno un numero maggiore di relazioni?  Quali occupano una posizione centrale all’interno della rete relazionale?  Quali sono i personaggi più influenti? </vt:lpstr>
      <vt:lpstr>Quali sono i personaggi che fungono da ponte tra i diversi personaggi? Applicare diverse strategie di rimozione dei nodi per mettere alla prova la resilienza della rete relazionale.  </vt:lpstr>
      <vt:lpstr>Quali sono i personaggi che fungono da ponte tra i diversi personaggi? Applicare diverse strategie di rimozione dei nodi per mettere alla prova la resilienza della rete relazionale.  </vt:lpstr>
      <vt:lpstr>Come sono cambiate le relazioni tra i personaggi e l’importanza di ogni personaggio tra la seconda e la settimana stagione? Nella settimana stagione esiste un personaggio che più influente del personaggio Meredith?</vt:lpstr>
      <vt:lpstr>Come sono cambiate le relazioni tra i personaggi e l’importanza di ogni personaggio tra la seconda e la settimana stagione? Nella settimana stagione esiste un personaggio più influente di Meredith? </vt:lpstr>
      <vt:lpstr>Quali tra i personaggi detiene all’interno della serie tv delle relazioni più intense?  </vt:lpstr>
      <vt:lpstr>Quali sono i personaggi più simili e dissimili tra loro utilizzando costrutti sulla similarità ed eterogeneità dei nodi? I personaggi Meredith e Cristina che sono migliori amiche sono i nodi più simili tra loro oppure vi è un altro personaggio che risulta più simile alla protagonista rispetto alla sua migliore amica? Mentre quale personaggio risulta nella rete quello più dissimile rispetto alla protagonista? Quali sono i primi 5 personaggi che possiedono relazioni con personaggi molto diversi tra loro?    </vt:lpstr>
      <vt:lpstr>Quali sono i personaggi più simili e dissimili tra loro utilizzando costrutti sulla similarità ed eterogeneità dei nodi? I personaggi Meredith e Cristina che sono migliori amiche sono i nodi più simili tra loro oppure vi è un altro personaggio che risulta più simile alla protagonista rispetto alla sua migliore amica? Mentre quale personaggio risulta nella rete quello più dissimile rispetto alla protagonista? Quali sono i primi 5 personaggi che possiedono relazioni con personaggi molto diversi tra loro?    </vt:lpstr>
      <vt:lpstr>Quali personaggi sono inseriti soprattutto in relazioni positive? Quali sono maggiormente coinvolti in dinamiche conflittuali? Confrontando la rete di relazioni della stagione 2 con quella della stagione 7, come sono evoluti le tipologie di rapporti relazionali di ogni personaggio nel tempo?  </vt:lpstr>
      <vt:lpstr>Quali personaggi sono inseriti soprattutto in relazioni positive?  Quali sono maggiormente coinvolti in dinamiche conflittuali?   Confrontando la rete di relazioni della stagione 2 con quella della stagione 7, come sono evoluti le tipologie di rapporti relazionali di ogni personaggio nel tempo?  </vt:lpstr>
      <vt:lpstr>Quanto l’importanza della figura professionale del capo di chirurgia Richard coincide con la sua importanza all’interno della rete relazionale tra i personaggi?  Rispetto alle diverse tipologie di relazioni conflittuali e non, di ogni personaggio, quanto ogni personaggio ha effettivamente un ruolo centrale nella rete? </vt:lpstr>
      <vt:lpstr>E’ possibile individuare delle comunità relazionali tra i personaggi della seconda stagione? Come variano le comunità individuate nella settimana stagione? </vt:lpstr>
      <vt:lpstr>Quali sono le parole che vengono utilizzate più frequentemente? Le parole maggiormente utilizzate sono coerenti con la trama trattata nella seconda stagione? Quali tipi di temi e sentimenti vengono trattati?   Quali sono le parole maggiormente utilizzate che esprimono sentimenti positivi o negativi? </vt:lpstr>
      <vt:lpstr>Quali sono le parole che vengono utilizzate più frequentemente? Le parole maggiormente utilizzate sono coerenti con la trama trattata nella seconda stagione? Quali tipi di temi e sentimenti vengono trattati?    Quali sono le parole maggiormente utilizzate che esprimono sentimenti positivi o negativi? </vt:lpstr>
      <vt:lpstr>Conclusioni</vt:lpstr>
      <vt:lpstr>Diapositiva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Elisabetta Lapenna</dc:creator>
  <cp:lastModifiedBy>Elisabetta Lapenna</cp:lastModifiedBy>
  <cp:revision>29</cp:revision>
  <dcterms:created xsi:type="dcterms:W3CDTF">2026-06-26T07:38:59Z</dcterms:created>
  <dcterms:modified xsi:type="dcterms:W3CDTF">2026-06-26T20:44:36Z</dcterms:modified>
</cp:coreProperties>
</file>